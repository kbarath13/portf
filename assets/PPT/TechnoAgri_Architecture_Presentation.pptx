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>
            <a:off x="7452360" y="2011680"/>
            <a:ext cx="2057400" cy="4023360"/>
          </a:xfrm>
          <a:prstGeom prst="line">
            <a:avLst/>
          </a:prstGeom>
          <a:ln w="27940">
            <a:solidFill>
              <a:srgbClr val="21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7982712" y="2011680"/>
            <a:ext cx="1911096" cy="4023360"/>
          </a:xfrm>
          <a:prstGeom prst="line">
            <a:avLst/>
          </a:prstGeom>
          <a:ln w="27940">
            <a:solidFill>
              <a:srgbClr val="21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8513064" y="2011680"/>
            <a:ext cx="1764792" cy="4023360"/>
          </a:xfrm>
          <a:prstGeom prst="line">
            <a:avLst/>
          </a:prstGeom>
          <a:ln w="27940">
            <a:solidFill>
              <a:srgbClr val="21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043416" y="2011680"/>
            <a:ext cx="1618488" cy="4023360"/>
          </a:xfrm>
          <a:prstGeom prst="line">
            <a:avLst/>
          </a:prstGeom>
          <a:ln w="27940">
            <a:solidFill>
              <a:srgbClr val="21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9573768" y="2011680"/>
            <a:ext cx="1472184" cy="4023360"/>
          </a:xfrm>
          <a:prstGeom prst="line">
            <a:avLst/>
          </a:prstGeom>
          <a:ln w="27940">
            <a:solidFill>
              <a:srgbClr val="214F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777240" y="777240"/>
            <a:ext cx="2377440" cy="310896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3" y="818388"/>
            <a:ext cx="226771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AI  •  IoT  •  BLOCKCHAIN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1508760"/>
            <a:ext cx="640080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4600" b="1" i="0">
                <a:solidFill>
                  <a:srgbClr val="F6F3E5"/>
                </a:solidFill>
                <a:latin typeface="Aptos"/>
              </a:rPr>
              <a:t>TechnoAgri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487168"/>
            <a:ext cx="612648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56C4AA"/>
                </a:solidFill>
                <a:latin typeface="Aptos"/>
              </a:rPr>
              <a:t>Smart farming, built on trusted data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218688"/>
            <a:ext cx="411480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BBCFC1"/>
                </a:solidFill>
                <a:latin typeface="Aptos"/>
              </a:rPr>
              <a:t>Architecture 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703320"/>
            <a:ext cx="5760720" cy="8229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F6F3E5"/>
                </a:solidFill>
                <a:latin typeface="Aptos"/>
              </a:rPr>
              <a:t>AI-assisted crop guidance • Disease detection • Live soil moisture • Tamper-evident records</a:t>
            </a:r>
          </a:p>
        </p:txBody>
      </p:sp>
      <p:sp>
        <p:nvSpPr>
          <p:cNvPr id="16" name="Oval 15"/>
          <p:cNvSpPr/>
          <p:nvPr/>
        </p:nvSpPr>
        <p:spPr>
          <a:xfrm>
            <a:off x="7406640" y="1828800"/>
            <a:ext cx="2834640" cy="2834640"/>
          </a:xfrm>
          <a:prstGeom prst="ellipse">
            <a:avLst/>
          </a:prstGeom>
          <a:solidFill>
            <a:srgbClr val="1A4336"/>
          </a:solidFill>
          <a:ln w="25400">
            <a:solidFill>
              <a:srgbClr val="56C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2194560"/>
            <a:ext cx="173736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5400" b="1" i="0">
                <a:solidFill>
                  <a:srgbClr val="B1D65F"/>
                </a:solidFill>
                <a:latin typeface="Aptos"/>
              </a:rPr>
              <a:t>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18120" y="3337560"/>
            <a:ext cx="201168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SMART FARM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6080760"/>
            <a:ext cx="77724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React · Express · MongoDB · Python · Fabric · ESP32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01 — PRODUCT VISION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A connected decision-support platform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TechnoAgri combines farm inputs, machine learning, and verifiable records.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02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2011680"/>
            <a:ext cx="2606040" cy="141732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157984"/>
            <a:ext cx="64008" cy="112471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76272"/>
            <a:ext cx="2167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Crop recommendation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78608"/>
            <a:ext cx="2167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Uses soil and climate values to recommend a crop.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011680"/>
            <a:ext cx="2606040" cy="141732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584448" y="2157984"/>
            <a:ext cx="64008" cy="112471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67328" y="2176272"/>
            <a:ext cx="2167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Yield prediction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2578608"/>
            <a:ext cx="2167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Estimates crop yield from selected form data.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2011680"/>
            <a:ext cx="2606040" cy="141732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73368" y="2157984"/>
            <a:ext cx="64008" cy="1124712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2176272"/>
            <a:ext cx="2167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Disease detection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56248" y="2578608"/>
            <a:ext cx="216712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Leaf image analysis predicts across 19 classes.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52560" y="2011680"/>
            <a:ext cx="2468880" cy="141732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162288" y="2157984"/>
            <a:ext cx="64008" cy="1124712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45168" y="2176272"/>
            <a:ext cx="20299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Farm assistant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578608"/>
            <a:ext cx="2029968" cy="75895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Chatbot plus weather and live moisture context.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4069080"/>
            <a:ext cx="13716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B1D65F"/>
                </a:solidFill>
                <a:latin typeface="Aptos"/>
              </a:rPr>
              <a:t>Core idea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462272"/>
            <a:ext cx="9875520" cy="7315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F6F3E5"/>
                </a:solidFill>
                <a:latin typeface="Aptos"/>
              </a:rPr>
              <a:t>Useful recommendations at the front end; API orchestration in the middle; data, AI and integrity services behind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5528" y="5532120"/>
            <a:ext cx="786384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The platform also supports English/Tamil UI and live dashboards.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02 — SYSTEM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One entry point, modular services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Public traffic enters through one ngrok tunnel and a Node reverse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03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" y="1965960"/>
            <a:ext cx="1874519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04088" y="2112264"/>
            <a:ext cx="64008" cy="71323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130552"/>
            <a:ext cx="1435607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Clients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6968" y="2532888"/>
            <a:ext cx="1435607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Browser / mobile
ESP32 sensor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965960"/>
            <a:ext cx="201168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990088" y="2112264"/>
            <a:ext cx="64008" cy="71323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172968" y="2130552"/>
            <a:ext cx="1572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Public edge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72968" y="2532888"/>
            <a:ext cx="157276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ngrok HTTPS
Node proxy :5501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0" y="1965960"/>
            <a:ext cx="19659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413248" y="2112264"/>
            <a:ext cx="64008" cy="713232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596128" y="2130552"/>
            <a:ext cx="1527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API layer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596128" y="2532888"/>
            <a:ext cx="1527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Express 5 :5000
Routers + JWT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72400" y="1965960"/>
            <a:ext cx="17373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882127" y="2112264"/>
            <a:ext cx="64008" cy="713232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130552"/>
            <a:ext cx="12984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Services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065008" y="2532888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Python ML
Blockchain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0" y="1965960"/>
            <a:ext cx="17373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9985248" y="2112264"/>
            <a:ext cx="64008" cy="71323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68128" y="2130552"/>
            <a:ext cx="12984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Storage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68128" y="2532888"/>
            <a:ext cx="12984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MongoDB
Fabric / CouchDB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2487168" y="2468880"/>
            <a:ext cx="329184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4919472" y="2468880"/>
            <a:ext cx="320040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7306056" y="2468880"/>
            <a:ext cx="402336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9546336" y="2468880"/>
            <a:ext cx="265176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31520" y="37033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1D65F"/>
                </a:solidFill>
                <a:latin typeface="Aptos"/>
              </a:rPr>
              <a:t>Request flow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069080"/>
            <a:ext cx="10607040" cy="1920240"/>
          </a:xfrm>
          <a:prstGeom prst="rect">
            <a:avLst/>
          </a:prstGeom>
          <a:noFill/>
        </p:spPr>
        <p:txBody>
          <a:bodyPr wrap="square" lIns="36576" rIns="27432" tIns="18288" bIns="18288">
            <a:spAutoFit/>
          </a:bodyPr>
          <a:lstStyle/>
          <a:p>
            <a:pPr>
              <a:spcAft>
                <a:spcPts val="700"/>
              </a:spcAft>
            </a:pPr>
            <a:r>
              <a:rPr sz="1300" b="1">
                <a:solidFill>
                  <a:srgbClr val="B1D65F"/>
                </a:solidFill>
                <a:latin typeface="Aptos"/>
              </a:rPr>
              <a:t>●  </a:t>
            </a:r>
            <a:r>
              <a:rPr sz="1500">
                <a:solidFill>
                  <a:srgbClr val="F6F3E5"/>
                </a:solidFill>
                <a:latin typeface="Aptos"/>
              </a:rPr>
              <a:t>React SPA is served as a production build by the proxy.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1D65F"/>
                </a:solidFill>
                <a:latin typeface="Aptos"/>
              </a:rPr>
              <a:t>●  </a:t>
            </a:r>
            <a:r>
              <a:rPr sz="1500">
                <a:solidFill>
                  <a:srgbClr val="F6F3E5"/>
                </a:solidFill>
                <a:latin typeface="Aptos"/>
              </a:rPr>
              <a:t>API and user routes are forwarded to Express; the proxy strips Origin.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1D65F"/>
                </a:solidFill>
                <a:latin typeface="Aptos"/>
              </a:rPr>
              <a:t>●  </a:t>
            </a:r>
            <a:r>
              <a:rPr sz="1500">
                <a:solidFill>
                  <a:srgbClr val="F6F3E5"/>
                </a:solidFill>
                <a:latin typeface="Aptos"/>
              </a:rPr>
              <a:t>Express controllers call MongoDB, Python scripts, external APIs and Fabric.</a:t>
            </a:r>
          </a:p>
          <a:p>
            <a:pPr>
              <a:spcAft>
                <a:spcPts val="700"/>
              </a:spcAft>
            </a:pPr>
            <a:r>
              <a:rPr sz="1300" b="1">
                <a:solidFill>
                  <a:srgbClr val="B1D65F"/>
                </a:solidFill>
                <a:latin typeface="Aptos"/>
              </a:rPr>
              <a:t>●  </a:t>
            </a:r>
            <a:r>
              <a:rPr sz="1500">
                <a:solidFill>
                  <a:srgbClr val="F6F3E5"/>
                </a:solidFill>
                <a:latin typeface="Aptos"/>
              </a:rPr>
              <a:t>MongoDB, CouchDB and Fabric services remain local and are not exposed publicly.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03 — TECHNOLOGY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Purpose-built layers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Each layer has a focused responsibility in the application.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04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1060704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975104"/>
            <a:ext cx="64008" cy="365759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10168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Frontend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8"/>
            <a:ext cx="1016812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BCFC1"/>
                </a:solidFill>
                <a:latin typeface="Aptos"/>
              </a:rPr>
              <a:t>React 19 · Router · Axios  |  SPA, forms, dashboards, chatbot UI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633472"/>
            <a:ext cx="1060704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41248" y="2779776"/>
            <a:ext cx="64008" cy="365759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24128" y="2798064"/>
            <a:ext cx="10168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Edge &amp; proxy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" y="3200400"/>
            <a:ext cx="1016812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BCFC1"/>
                </a:solidFill>
                <a:latin typeface="Aptos"/>
              </a:rPr>
              <a:t>ngrok · Node 22 built-ins  |  HTTPS tunnel, static build, API reverse proxy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3438144"/>
            <a:ext cx="1060704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248" y="3584448"/>
            <a:ext cx="64008" cy="365759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24128" y="3602736"/>
            <a:ext cx="10168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Backend &amp; auth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24128" y="4005072"/>
            <a:ext cx="1016812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BCFC1"/>
                </a:solidFill>
                <a:latin typeface="Aptos"/>
              </a:rPr>
              <a:t>Express 5 · CORS · Multer · JWT · bcryptjs  |  REST endpoints, uploads, authentication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242816"/>
            <a:ext cx="1060704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1248" y="4389120"/>
            <a:ext cx="64008" cy="365759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4128" y="4407408"/>
            <a:ext cx="10168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Data &amp; AI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24128" y="4809744"/>
            <a:ext cx="1016812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BCFC1"/>
                </a:solidFill>
                <a:latin typeface="Aptos"/>
              </a:rPr>
              <a:t>MongoDB 8.20 · Mongoose · Python 3.13  |  Users, chat, disease results, ML scripts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047488"/>
            <a:ext cx="1060704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41248" y="5193792"/>
            <a:ext cx="64008" cy="365759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24128" y="5212079"/>
            <a:ext cx="1016812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Integrity &amp; IoT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" y="5614416"/>
            <a:ext cx="1016812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BBCFC1"/>
                </a:solidFill>
                <a:latin typeface="Aptos"/>
              </a:rPr>
              <a:t>Hyperledger Fabric 2.5 · CouchDB · ESP32  |  Hash anchoring, world state, soil moisture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04 — COMPONENT RELATIONSHIPS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Controllers orchestrate the work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The React UI communicates through Axios and a same-origin proxy.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05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19659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066544"/>
            <a:ext cx="64008" cy="71323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1527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React pages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87168"/>
            <a:ext cx="1527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Login, crop, yield,
disease, chat, climate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154680" y="1920240"/>
            <a:ext cx="19659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264408" y="2066544"/>
            <a:ext cx="64008" cy="71323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447288" y="2084832"/>
            <a:ext cx="1527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Proxy + routers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47288" y="2487168"/>
            <a:ext cx="1527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Same-origin API
routing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23560" y="1920240"/>
            <a:ext cx="1965960" cy="100584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5733288" y="2066544"/>
            <a:ext cx="64008" cy="713232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16168" y="2084832"/>
            <a:ext cx="15270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F6F3E5"/>
                </a:solidFill>
                <a:latin typeface="Aptos"/>
              </a:rPr>
              <a:t>Auth + controllers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16168" y="2487168"/>
            <a:ext cx="1527048" cy="34747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JWT middleware
business logic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1600200"/>
            <a:ext cx="2743200" cy="914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339327" y="1746504"/>
            <a:ext cx="64008" cy="621792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1764792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3E5"/>
                </a:solidFill>
                <a:latin typeface="Aptos"/>
              </a:rPr>
              <a:t>Mongoose → 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22208" y="2167128"/>
            <a:ext cx="23042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User, DiseaseDetection,
ChatMessage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2743200"/>
            <a:ext cx="2743200" cy="914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9327" y="2889504"/>
            <a:ext cx="64008" cy="62179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522208" y="2907792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3E5"/>
                </a:solidFill>
                <a:latin typeface="Aptos"/>
              </a:rPr>
              <a:t>Python runners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22208" y="3310128"/>
            <a:ext cx="23042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ML scripts and chatbot runner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3886200"/>
            <a:ext cx="2743200" cy="914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339327" y="4032504"/>
            <a:ext cx="64008" cy="62179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22208" y="4050791"/>
            <a:ext cx="23042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6F3E5"/>
                </a:solidFill>
                <a:latin typeface="Aptos"/>
              </a:rPr>
              <a:t>BlockchainService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22208" y="4453128"/>
            <a:ext cx="2304288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Fabric ledger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2697480" y="2423160"/>
            <a:ext cx="393192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5166360" y="2423160"/>
            <a:ext cx="393192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7635240" y="2011680"/>
            <a:ext cx="502920" cy="22860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7635240" y="2423160"/>
            <a:ext cx="502920" cy="73152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635240" y="2606040"/>
            <a:ext cx="502920" cy="169164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77240" y="5257800"/>
            <a:ext cx="237744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1D65F"/>
                </a:solidFill>
                <a:latin typeface="Aptos"/>
              </a:rPr>
              <a:t>Separation of concerns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77240" y="5623560"/>
            <a:ext cx="102412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6F3E5"/>
                </a:solidFill>
                <a:latin typeface="Aptos"/>
              </a:rPr>
              <a:t>UI presentation → API routing → authenticated controllers → specialized data / AI / ledger services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05 — SECURE IDENTITY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Authentication with integrity checks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Passwords are hashed; record hashes are anchored on the Fabric ledger.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06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92024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2066544"/>
            <a:ext cx="64008" cy="877824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208483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48716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React submits /users/register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29000" y="2048256"/>
            <a:ext cx="438912" cy="310896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83864" y="208940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26280" y="192024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636008" y="2066544"/>
            <a:ext cx="64008" cy="877824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18888" y="208483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Protect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18888" y="248716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Express hashes password with bcrypt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048256"/>
            <a:ext cx="438912" cy="310896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278624" y="208940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321040" y="192024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430768" y="2066544"/>
            <a:ext cx="64008" cy="877824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3648" y="208483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Persist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13648" y="248716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User record saved in MongoDB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1018520" y="2048256"/>
            <a:ext cx="438912" cy="310896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73384" y="208940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03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56616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41248" y="3712464"/>
            <a:ext cx="64008" cy="877824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" y="37307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Anchor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" y="413308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Fabric SetHash(userId, SHA-256)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29000" y="3694176"/>
            <a:ext cx="438912" cy="310896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83864" y="373532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04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26280" y="356616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4636008" y="3712464"/>
            <a:ext cx="64008" cy="877824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18888" y="37307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Login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818888" y="413308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bcrypt comparison returns JWT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223760" y="3694176"/>
            <a:ext cx="438912" cy="310896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278624" y="373532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05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321040" y="3566160"/>
            <a:ext cx="3337560" cy="1170432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430768" y="3712464"/>
            <a:ext cx="64008" cy="877824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613648" y="373075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Verify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613648" y="4133088"/>
            <a:ext cx="2898648" cy="51206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BBCFC1"/>
                </a:solidFill>
                <a:latin typeface="Aptos"/>
              </a:rPr>
              <a:t>GetHash compared; integrity status returned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18520" y="3694176"/>
            <a:ext cx="438912" cy="310896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11073384" y="3735324"/>
            <a:ext cx="329184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06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7240" y="5715000"/>
            <a:ext cx="987552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CFC1"/>
                </a:solidFill>
                <a:latin typeface="Aptos"/>
              </a:rPr>
              <a:t>JWT is sent in the x-auth-token header for protected requests.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06 — INTELLIGENCE AT THE 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From field signals to actionable outputs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ML inference runs through Python scripts invoked by the Express API.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07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20240"/>
            <a:ext cx="3383280" cy="150876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066544"/>
            <a:ext cx="64008" cy="1216151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084832"/>
            <a:ext cx="29443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3E5"/>
                </a:solidFill>
                <a:latin typeface="Aptos"/>
              </a:rPr>
              <a:t>Crop + yield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487168"/>
            <a:ext cx="2944368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Soil / climate inputs → Python model → crop recommendation or predicted yield.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920240"/>
            <a:ext cx="3383280" cy="150876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498848" y="2066544"/>
            <a:ext cx="64008" cy="1216151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2084832"/>
            <a:ext cx="29443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3E5"/>
                </a:solidFill>
                <a:latin typeface="Aptos"/>
              </a:rPr>
              <a:t>Leaf disease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2487168"/>
            <a:ext cx="2944368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Image upload → leaf check + MobileNetV2 preprocessing → 19-class prediction.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920240"/>
            <a:ext cx="3383280" cy="150876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02167" y="2066544"/>
            <a:ext cx="64008" cy="1216151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85048" y="2084832"/>
            <a:ext cx="29443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3E5"/>
                </a:solidFill>
                <a:latin typeface="Aptos"/>
              </a:rPr>
              <a:t>Live moisture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85048" y="2487168"/>
            <a:ext cx="2944368" cy="85039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ESP32 sensor → HTTP /moisture → API → latest reading in dashboard.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4160520"/>
            <a:ext cx="18288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B1D65F"/>
                </a:solidFill>
                <a:latin typeface="Aptos"/>
              </a:rPr>
              <a:t>AI toolchain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526280"/>
            <a:ext cx="8869680" cy="3657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900" b="1" i="0">
                <a:solidFill>
                  <a:srgbClr val="F6F3E5"/>
                </a:solidFill>
                <a:latin typeface="Aptos"/>
              </a:rPr>
              <a:t>Python 3.13 · scikit-learn · TensorFlow · pandas · joblib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257800"/>
            <a:ext cx="9784080" cy="4114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CFC1"/>
                </a:solidFill>
                <a:latin typeface="Aptos"/>
              </a:rPr>
              <a:t>Disease results are saved to MongoDB and their hashes are anchored on Fabric.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07 —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MongoDB collections and relationships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The project uses MongoDB collections rather than relational tables.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08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965960"/>
            <a:ext cx="3154680" cy="2057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2112264"/>
            <a:ext cx="64008" cy="176479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30552"/>
            <a:ext cx="2715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6F3E5"/>
                </a:solidFill>
                <a:latin typeface="Aptos"/>
              </a:rPr>
              <a:t>USER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532888"/>
            <a:ext cx="2715768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BBCFC1"/>
                </a:solidFill>
                <a:latin typeface="Aptos"/>
              </a:rPr>
              <a:t>_id · username · email
password (bcrypt hash)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26280" y="1965960"/>
            <a:ext cx="3154680" cy="2057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636008" y="2112264"/>
            <a:ext cx="64008" cy="1764792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2130552"/>
            <a:ext cx="2715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3E5"/>
                </a:solidFill>
                <a:latin typeface="Aptos"/>
              </a:rPr>
              <a:t>DISEASE_DETECTION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2532888"/>
            <a:ext cx="2715768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_id · userId · disease
confidence · image (base64)
timestamp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321040" y="1965960"/>
            <a:ext cx="3154680" cy="20574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30767" y="2112264"/>
            <a:ext cx="64008" cy="176479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613648" y="2130552"/>
            <a:ext cx="271576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 i="0">
                <a:solidFill>
                  <a:srgbClr val="F6F3E5"/>
                </a:solidFill>
                <a:latin typeface="Aptos"/>
              </a:rPr>
              <a:t>CHAT_MESSAGE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613648" y="2532888"/>
            <a:ext cx="2715768" cy="1399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_id · userId · sessionId
query · response · hash
timestamp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886200" y="2788920"/>
            <a:ext cx="548640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3886200" y="3154680"/>
            <a:ext cx="4343400" cy="0"/>
          </a:xfrm>
          <a:prstGeom prst="line">
            <a:avLst/>
          </a:prstGeom>
          <a:ln w="25400">
            <a:solidFill>
              <a:srgbClr val="56C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77240" y="4572000"/>
            <a:ext cx="102412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1" i="0">
                <a:solidFill>
                  <a:srgbClr val="F6F3E5"/>
                </a:solidFill>
                <a:latin typeface="Aptos"/>
              </a:rPr>
              <a:t>One user can run many disease detections and send many chat messages.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5257800"/>
            <a:ext cx="104241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Ledger entries are key/value pairs written by chaincode: SetHash(id, hash, type) and GetHash(id).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08 —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The endpoints behind the experience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Representative API routes from the architecture reference.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09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" y="1783080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795528" y="1929384"/>
            <a:ext cx="64008" cy="365759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1947672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/users/register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78408" y="2350008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Create account + anchor hash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09360" y="1783080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19088" y="1929384"/>
            <a:ext cx="64008" cy="365759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1968" y="1947672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/users/login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1968" y="2350008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Return JWT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615184"/>
            <a:ext cx="525780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95528" y="2761488"/>
            <a:ext cx="64008" cy="365759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2779776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GET   /users/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182112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List users + integrityStatus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615184"/>
            <a:ext cx="525780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419088" y="2761488"/>
            <a:ext cx="64008" cy="365759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1968" y="2779776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/api/recommend/accurate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01968" y="3182112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Recommend crop from soil / climate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5800" y="3447288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95528" y="3593592"/>
            <a:ext cx="64008" cy="365759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611880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/api/yield/predict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14215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Predict crop yield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09360" y="3447288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419088" y="3593592"/>
            <a:ext cx="64008" cy="365759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1968" y="3611880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GET   /api/weather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01968" y="4014215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Weather for a location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4279392"/>
            <a:ext cx="525780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95528" y="4425696"/>
            <a:ext cx="64008" cy="365759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4443983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GET   /api/iot/moisture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4846320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Latest ESP32 moisture reading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60" y="4279392"/>
            <a:ext cx="5257800" cy="658368"/>
          </a:xfrm>
          <a:prstGeom prst="roundRect">
            <a:avLst/>
          </a:prstGeom>
          <a:solidFill>
            <a:srgbClr val="13352B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419088" y="4425696"/>
            <a:ext cx="64008" cy="365759"/>
          </a:xfrm>
          <a:prstGeom prst="roundRect">
            <a:avLst/>
          </a:prstGeom>
          <a:solidFill>
            <a:srgbClr val="F07C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601968" y="4443983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/api/predict/disease/predict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01968" y="4846320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Leaf image → disease + confidence (JWT)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85800" y="5111496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795528" y="5257800"/>
            <a:ext cx="64008" cy="365759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78408" y="5276088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POST  /api/chatbot/chat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78408" y="5678424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Ask farming assistant (JWT)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309360" y="5111496"/>
            <a:ext cx="5257800" cy="658368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6419088" y="5257800"/>
            <a:ext cx="64008" cy="365759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01968" y="5276088"/>
            <a:ext cx="481888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6F3E5"/>
                </a:solidFill>
                <a:latin typeface="Aptos"/>
              </a:rPr>
              <a:t>GET   /api/chatbot/history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601968" y="5678424"/>
            <a:ext cx="4818888" cy="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BBCFC1"/>
                </a:solidFill>
                <a:latin typeface="Aptos"/>
              </a:rPr>
              <a:t>List chat sessions (JWT)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23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784080" y="-1005840"/>
            <a:ext cx="3749039" cy="3749039"/>
          </a:xfrm>
          <a:prstGeom prst="ellipse">
            <a:avLst/>
          </a:prstGeom>
          <a:solidFill>
            <a:srgbClr val="1335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561320" y="-182880"/>
            <a:ext cx="2194560" cy="2194560"/>
          </a:xfrm>
          <a:prstGeom prst="ellipse">
            <a:avLst/>
          </a:prstGeom>
          <a:solidFill>
            <a:srgbClr val="1A43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rc 3"/>
          <p:cNvSpPr/>
          <p:nvPr/>
        </p:nvSpPr>
        <p:spPr>
          <a:xfrm>
            <a:off x="-731520" y="5577840"/>
            <a:ext cx="2743200" cy="2743200"/>
          </a:xfrm>
          <a:prstGeom prst="arc">
            <a:avLst/>
          </a:prstGeom>
          <a:noFill/>
          <a:ln w="2540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347472"/>
            <a:ext cx="5029200" cy="2286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B1D65F"/>
                </a:solidFill>
                <a:latin typeface="Aptos"/>
              </a:rPr>
              <a:t>09 — DEPLOYMENT &amp;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607040" cy="56692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900" b="1" i="0">
                <a:solidFill>
                  <a:srgbClr val="F6F3E5"/>
                </a:solidFill>
                <a:latin typeface="Aptos"/>
              </a:rPr>
              <a:t>One command to share the full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1298448"/>
            <a:ext cx="1024128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BBCFC1"/>
                </a:solidFill>
                <a:latin typeface="Aptos"/>
              </a:rPr>
              <a:t>The public entry point is separated from private data and blockchain services.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61320" y="6473952"/>
            <a:ext cx="1005840" cy="1828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BCFC1"/>
                </a:solidFill>
                <a:latin typeface="Aptos"/>
              </a:rPr>
              <a:t>10 / 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1828800"/>
            <a:ext cx="3337560" cy="13716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841248" y="1975104"/>
            <a:ext cx="64008" cy="1078992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24128" y="199339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Start script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4128" y="2395728"/>
            <a:ext cx="2898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start-share.bat starts Fabric containers, backend, proxy :5501 and ngrok.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1828800"/>
            <a:ext cx="3337560" cy="13716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44568" y="1975104"/>
            <a:ext cx="64008" cy="1078992"/>
          </a:xfrm>
          <a:prstGeom prst="roundRect">
            <a:avLst/>
          </a:prstGeom>
          <a:solidFill>
            <a:srgbClr val="56C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7448" y="199339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Single origin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27448" y="2395728"/>
            <a:ext cx="2898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API_URL is empty behind the proxy; requests use relative paths.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28800"/>
            <a:ext cx="3337560" cy="1371600"/>
          </a:xfrm>
          <a:prstGeom prst="roundRect">
            <a:avLst/>
          </a:prstGeom>
          <a:solidFill>
            <a:srgbClr val="1A4336"/>
          </a:solidFill>
          <a:ln w="10160">
            <a:solidFill>
              <a:srgbClr val="214F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47888" y="1975104"/>
            <a:ext cx="64008" cy="1078992"/>
          </a:xfrm>
          <a:prstGeom prst="roundRect">
            <a:avLst/>
          </a:prstGeom>
          <a:solidFill>
            <a:srgbClr val="F0B1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30768" y="1993392"/>
            <a:ext cx="2898648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6F3E5"/>
                </a:solidFill>
                <a:latin typeface="Aptos"/>
              </a:rPr>
              <a:t>Private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0768" y="2395728"/>
            <a:ext cx="2898648" cy="7132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BBCFC1"/>
                </a:solidFill>
                <a:latin typeface="Aptos"/>
              </a:rPr>
              <a:t>MongoDB, CouchDB and Fabric stay local and are not exposed.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3108960" cy="320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 i="0">
                <a:solidFill>
                  <a:srgbClr val="B1D65F"/>
                </a:solidFill>
                <a:latin typeface="Aptos"/>
              </a:rPr>
              <a:t>TechnoAgri at a glance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315968"/>
            <a:ext cx="10058400" cy="5029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6F3E5"/>
                </a:solidFill>
                <a:latin typeface="Aptos"/>
              </a:rPr>
              <a:t>AI-assisted farming  +  real-time IoT  +  tamper-evident records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4672" y="5074920"/>
            <a:ext cx="9966960" cy="59436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BBCFC1"/>
                </a:solidFill>
                <a:latin typeface="Aptos"/>
              </a:rPr>
              <a:t>A modular architecture connects farmer-facing tools with machine learning and a blockchain-backed integrity layer.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" y="5925312"/>
            <a:ext cx="1371600" cy="310896"/>
          </a:xfrm>
          <a:prstGeom prst="roundRect">
            <a:avLst/>
          </a:prstGeom>
          <a:solidFill>
            <a:srgbClr val="B1D6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9536" y="5966460"/>
            <a:ext cx="1261872" cy="201168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ctr">
              <a:spcAft>
                <a:spcPts val="0"/>
              </a:spcAft>
            </a:pPr>
            <a:r>
              <a:rPr sz="900" b="1" i="0">
                <a:solidFill>
                  <a:srgbClr val="0F251F"/>
                </a:solidFill>
                <a:latin typeface="Aptos"/>
              </a:rP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