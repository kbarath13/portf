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4526280"/>
            <a:ext cx="4937760" cy="32004"/>
          </a:xfrm>
          <a:prstGeom prst="rect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4754880"/>
            <a:ext cx="4937760" cy="32004"/>
          </a:xfrm>
          <a:prstGeom prst="rect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4983480"/>
            <a:ext cx="4937760" cy="32004"/>
          </a:xfrm>
          <a:prstGeom prst="rect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5212080"/>
            <a:ext cx="4937760" cy="32004"/>
          </a:xfrm>
          <a:prstGeom prst="rect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5440680"/>
            <a:ext cx="4937760" cy="32004"/>
          </a:xfrm>
          <a:prstGeom prst="rect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4370832"/>
            <a:ext cx="50292" cy="102412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42631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1544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9367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37192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76104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15016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53928" y="4370832"/>
            <a:ext cx="50292" cy="1024128"/>
          </a:xfrm>
          <a:prstGeom prst="rect">
            <a:avLst/>
          </a:prstGeom>
          <a:solidFill>
            <a:srgbClr val="97B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292840" y="4370832"/>
            <a:ext cx="50292" cy="102412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170432"/>
            <a:ext cx="5669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0BEAA"/>
                </a:solidFill>
                <a:latin typeface="Aptos"/>
              </a:defRPr>
            </a:pPr>
            <a:r>
              <a:t>BARATH RAILWAY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783080"/>
            <a:ext cx="6492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7FAFF"/>
                </a:solidFill>
                <a:latin typeface="Aptos"/>
              </a:defRPr>
            </a:pPr>
            <a:r>
              <a:t>Seat Management</a:t>
            </a:r>
          </a:p>
          <a:p>
            <a:pPr algn="l">
              <a:spcAft>
                <a:spcPts val="600"/>
              </a:spcAft>
              <a:defRPr sz="3800" b="1">
                <a:solidFill>
                  <a:srgbClr val="F7FAFF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401568"/>
            <a:ext cx="6035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D2E0EE"/>
                </a:solidFill>
                <a:latin typeface="Aptos"/>
              </a:defRPr>
            </a:pPr>
            <a:r>
              <a:t>Full-stack architecture • Smart allocation • Secure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8229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FBE4B"/>
                </a:solidFill>
                <a:latin typeface="Aptos"/>
              </a:defRPr>
            </a:pPr>
            <a:r>
              <a:t>NODE.JS  /  EXPRESS  /  MONGODB  /  VANILLA JS  /  NGROK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36208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What the system delivers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02  / 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3327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D2E0EE"/>
                </a:solidFill>
                <a:latin typeface="Aptos"/>
              </a:defRPr>
            </a:pPr>
            <a:r>
              <a:t>A full-stack railway booking platform designed to make seat selection simple, secure and shareable.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14600"/>
            <a:ext cx="5074920" cy="126187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14600"/>
            <a:ext cx="64008" cy="126187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679192"/>
            <a:ext cx="46908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Smart booking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136392"/>
            <a:ext cx="4690872" cy="5120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D2E0EE"/>
                </a:solidFill>
                <a:latin typeface="Aptos"/>
              </a:defRPr>
            </a:pPr>
            <a:r>
              <a:t>Prioritizes consecutive seats in the same row, then falls back to available seats.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514600"/>
            <a:ext cx="5074920" cy="126187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514600"/>
            <a:ext cx="64008" cy="1261872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679192"/>
            <a:ext cx="46908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Secure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136392"/>
            <a:ext cx="4690872" cy="5120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D2E0EE"/>
                </a:solidFill>
                <a:latin typeface="Aptos"/>
              </a:defRPr>
            </a:pPr>
            <a:r>
              <a:t>JWT-based sessions with bcrypt password hashing and protected booking APIs.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5074920" cy="126187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114800"/>
            <a:ext cx="64008" cy="1261872"/>
          </a:xfrm>
          <a:prstGeom prst="rect">
            <a:avLst/>
          </a:prstGeom>
          <a:solidFill>
            <a:srgbClr val="70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279392"/>
            <a:ext cx="46908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Live 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36592"/>
            <a:ext cx="4690872" cy="5120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D2E0EE"/>
                </a:solidFill>
                <a:latin typeface="Aptos"/>
              </a:defRPr>
            </a:pPr>
            <a:r>
              <a:t>Seat counts are computed from trains and bookings on each train-list request.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114800"/>
            <a:ext cx="5074920" cy="126187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114800"/>
            <a:ext cx="64008" cy="1261872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279392"/>
            <a:ext cx="46908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One public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736592"/>
            <a:ext cx="4690872" cy="5120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D2E0EE"/>
                </a:solidFill>
                <a:latin typeface="Aptos"/>
              </a:defRPr>
            </a:pPr>
            <a:r>
              <a:t>A custom reverse proxy serves the frontend and forwards API traffic through one ngrok tunnel.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REQUEST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High-level 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03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192024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874519"/>
            <a:ext cx="54864" cy="80467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965960"/>
            <a:ext cx="1719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t>User /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67712"/>
            <a:ext cx="17556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Mobile or 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1874519"/>
            <a:ext cx="205740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71800" y="1874519"/>
            <a:ext cx="54864" cy="804672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9816" y="1965960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t>ngrok 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267712"/>
            <a:ext cx="1892807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Public HTTPS URL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874519"/>
            <a:ext cx="219456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40680" y="1874519"/>
            <a:ext cx="54864" cy="80467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965960"/>
            <a:ext cx="199339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t>dev-server.js :5501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8" y="2267712"/>
            <a:ext cx="2029967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Static files + API proxy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874519"/>
            <a:ext cx="164592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874519"/>
            <a:ext cx="54864" cy="804672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96596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t>Express :3000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7" y="2267712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REST 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1874519"/>
            <a:ext cx="141732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0" y="1874519"/>
            <a:ext cx="54864" cy="80467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86416" y="1965960"/>
            <a:ext cx="1216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2267712"/>
            <a:ext cx="12527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railway DB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06040" y="2267712"/>
            <a:ext cx="365760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0" y="2267712"/>
            <a:ext cx="411480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35240" y="2267712"/>
            <a:ext cx="457200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38360" y="2267712"/>
            <a:ext cx="320040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14400" y="3246120"/>
            <a:ext cx="3108960" cy="141732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3246120"/>
            <a:ext cx="64008" cy="141732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" y="3410712"/>
            <a:ext cx="2724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Static route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3867911"/>
            <a:ext cx="272491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D2E0EE"/>
                </a:solidFill>
                <a:latin typeface="Aptos"/>
              </a:defRPr>
            </a:pPr>
            <a:r>
              <a:t>HTML, CSS, JS and images are streamed from Frontned/.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3246120"/>
            <a:ext cx="3108960" cy="141732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26280" y="3246120"/>
            <a:ext cx="64008" cy="14173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27448" y="3410712"/>
            <a:ext cx="2724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API route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7448" y="3867911"/>
            <a:ext cx="272491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D2E0EE"/>
                </a:solidFill>
                <a:latin typeface="Aptos"/>
              </a:defRPr>
            </a:pPr>
            <a:r>
              <a:t>/api/* and /health are forwarded to Express; Origin is stripped.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3246120"/>
            <a:ext cx="3108960" cy="141732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3246120"/>
            <a:ext cx="64008" cy="1417320"/>
          </a:xfrm>
          <a:prstGeom prst="rect">
            <a:avLst/>
          </a:prstGeom>
          <a:solidFill>
            <a:srgbClr val="70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8" y="3410712"/>
            <a:ext cx="2724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Data route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3867911"/>
            <a:ext cx="272491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D2E0EE"/>
                </a:solidFill>
                <a:latin typeface="Aptos"/>
              </a:defRPr>
            </a:pPr>
            <a:r>
              <a:t>Mongoose validates schemas and reads/writes users, trains and bookings.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166360"/>
            <a:ext cx="9875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97B0C9"/>
                </a:solidFill>
                <a:latin typeface="Aptos"/>
              </a:defRPr>
            </a:pPr>
            <a:r>
              <a:t>Local browser  •  ngrok tunnel  •  reverse proxy  •  backend  • 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LAYERS AND 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04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783080"/>
            <a:ext cx="3429000" cy="157276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47672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58568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7FAFF"/>
                </a:solidFill>
                <a:latin typeface="Aptos"/>
              </a:defRPr>
            </a:pPr>
            <a:r>
              <a:t>HTML5 · CSS3 · Vanilla 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79191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Responsive UI, auth state, seat map rendering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1783080"/>
            <a:ext cx="3429000" cy="157276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947672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FBE4B"/>
                </a:solidFill>
                <a:latin typeface="Aptos"/>
              </a:defRPr>
            </a:pPr>
            <a:r>
              <a:t>REVERSE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258568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7FAFF"/>
                </a:solidFill>
                <a:latin typeface="Aptos"/>
              </a:defRPr>
            </a:pPr>
            <a:r>
              <a:t>Node.js built-ins · ≥18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679191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Static serving + API forwarding; zero npm dependencies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783080"/>
            <a:ext cx="3429000" cy="157276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947672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70E0A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258568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7FAFF"/>
                </a:solidFill>
                <a:latin typeface="Aptos"/>
              </a:defRPr>
            </a:pPr>
            <a:r>
              <a:t>Express.js · ^4.18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679191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REST API, CORS and JSON middleware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49039"/>
            <a:ext cx="3429000" cy="157276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13631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F7070"/>
                </a:solidFill>
                <a:latin typeface="Aptos"/>
              </a:defRPr>
            </a:pPr>
            <a: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224527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7FAFF"/>
                </a:solidFill>
                <a:latin typeface="Aptos"/>
              </a:defRPr>
            </a:pPr>
            <a:r>
              <a:t>jsonwebtoken · bcryptjs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64515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JWT issuance (30-day expiry) and password hashing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3749039"/>
            <a:ext cx="3429000" cy="157276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913631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DATA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224527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7FAFF"/>
                </a:solidFill>
                <a:latin typeface="Aptos"/>
              </a:defRPr>
            </a:pPr>
            <a:r>
              <a:t>Mongoose · ^8.2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64515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Schema enforcement and query building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3749039"/>
            <a:ext cx="3429000" cy="157276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3913631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FBE4B"/>
                </a:solidFill>
                <a:latin typeface="Aptos"/>
              </a:defRPr>
            </a:pPr>
            <a:r>
              <a:t>DATABASE /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4224527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7FAFF"/>
                </a:solidFill>
                <a:latin typeface="Aptos"/>
              </a:defRPr>
            </a:pPr>
            <a:r>
              <a:t>MongoDB 6+ · dotenv · nodemon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464515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Document store, environment loading and auto-restart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FRONTEND → ROUTES → CONTROLLERS →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Component relationships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05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19072"/>
            <a:ext cx="3246120" cy="411480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BEAA"/>
                </a:solidFill>
                <a:latin typeface="Aptos"/>
              </a:defRPr>
            </a:pPr>
            <a:r>
              <a:t>FRONTEND PAGES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2569464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68880"/>
            <a:ext cx="2542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index.html — landing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593592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93008"/>
            <a:ext cx="2542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login.html — authentication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617720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17136"/>
            <a:ext cx="2542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register.html — sign-up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5641848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541264"/>
            <a:ext cx="2542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trains.html — browse trains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6665976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565392"/>
            <a:ext cx="2542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book.html — booking wizard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7690104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7589520"/>
            <a:ext cx="2542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booking-history.html —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1719072"/>
            <a:ext cx="3154680" cy="411480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192024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4B"/>
                </a:solidFill>
                <a:latin typeface="Aptos"/>
              </a:defRPr>
            </a:pPr>
            <a:r>
              <a:t>BACKEND LOGIC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2569464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2468880"/>
            <a:ext cx="2496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server.js — app bootstrap</a:t>
            </a:r>
          </a:p>
        </p:txBody>
      </p:sp>
      <p:sp>
        <p:nvSpPr>
          <p:cNvPr id="29" name="Oval 28"/>
          <p:cNvSpPr/>
          <p:nvPr/>
        </p:nvSpPr>
        <p:spPr>
          <a:xfrm>
            <a:off x="4663440" y="3593592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7" y="3493008"/>
            <a:ext cx="2496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Routes: /api/auth, /api/trains, /api/bookings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4617720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7" y="4517136"/>
            <a:ext cx="2496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Controllers: auth, train, booking</a:t>
            </a:r>
          </a:p>
        </p:txBody>
      </p:sp>
      <p:sp>
        <p:nvSpPr>
          <p:cNvPr id="33" name="Oval 32"/>
          <p:cNvSpPr/>
          <p:nvPr/>
        </p:nvSpPr>
        <p:spPr>
          <a:xfrm>
            <a:off x="4663440" y="5641848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4607" y="5541264"/>
            <a:ext cx="2496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auth.js — JWT protect() middleware</a:t>
            </a:r>
          </a:p>
        </p:txBody>
      </p:sp>
      <p:sp>
        <p:nvSpPr>
          <p:cNvPr id="35" name="Oval 34"/>
          <p:cNvSpPr/>
          <p:nvPr/>
        </p:nvSpPr>
        <p:spPr>
          <a:xfrm>
            <a:off x="4663440" y="6665976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4607" y="6565392"/>
            <a:ext cx="2496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db.js — Mongoose connection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19072"/>
            <a:ext cx="3337560" cy="411480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92024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70E0AA"/>
                </a:solidFill>
                <a:latin typeface="Aptos"/>
              </a:defRPr>
            </a:pPr>
            <a:r>
              <a:t>DATA MODELS</a:t>
            </a:r>
          </a:p>
        </p:txBody>
      </p:sp>
      <p:sp>
        <p:nvSpPr>
          <p:cNvPr id="39" name="Oval 38"/>
          <p:cNvSpPr/>
          <p:nvPr/>
        </p:nvSpPr>
        <p:spPr>
          <a:xfrm>
            <a:off x="8321040" y="2569464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2468880"/>
            <a:ext cx="258775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User.js — name, email, password</a:t>
            </a:r>
          </a:p>
        </p:txBody>
      </p:sp>
      <p:sp>
        <p:nvSpPr>
          <p:cNvPr id="41" name="Oval 40"/>
          <p:cNvSpPr/>
          <p:nvPr/>
        </p:nvSpPr>
        <p:spPr>
          <a:xfrm>
            <a:off x="8321040" y="3593592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22208" y="3493008"/>
            <a:ext cx="258775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Train.js — seats, routes, schedule</a:t>
            </a:r>
          </a:p>
        </p:txBody>
      </p:sp>
      <p:sp>
        <p:nvSpPr>
          <p:cNvPr id="43" name="Oval 42"/>
          <p:cNvSpPr/>
          <p:nvPr/>
        </p:nvSpPr>
        <p:spPr>
          <a:xfrm>
            <a:off x="8321040" y="4617720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22208" y="4517136"/>
            <a:ext cx="258775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Booking.js — bookingId, passengers</a:t>
            </a:r>
          </a:p>
        </p:txBody>
      </p:sp>
      <p:sp>
        <p:nvSpPr>
          <p:cNvPr id="45" name="Oval 44"/>
          <p:cNvSpPr/>
          <p:nvPr/>
        </p:nvSpPr>
        <p:spPr>
          <a:xfrm>
            <a:off x="8321040" y="5641848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8" y="5541264"/>
            <a:ext cx="258775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Booking links user and train</a:t>
            </a:r>
          </a:p>
        </p:txBody>
      </p:sp>
      <p:sp>
        <p:nvSpPr>
          <p:cNvPr id="47" name="Oval 46"/>
          <p:cNvSpPr/>
          <p:nvPr/>
        </p:nvSpPr>
        <p:spPr>
          <a:xfrm>
            <a:off x="8321040" y="6665976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22208" y="6565392"/>
            <a:ext cx="258775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Passenger records include seatId + name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913632" y="3657600"/>
            <a:ext cx="457200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07808" y="3657600"/>
            <a:ext cx="420623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SECURE SIGN-IN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Authentication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06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28800"/>
            <a:ext cx="3401568" cy="135331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9339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4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8424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t>Enter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5059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User submits email + password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1828800"/>
            <a:ext cx="3401568" cy="135331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99339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4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98424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t>Proxy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45059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POST /api/auth/login via :5501; Origin stripped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828800"/>
            <a:ext cx="3401568" cy="135331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99339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4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198424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t>Find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5059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MongoDB User.findOne({ email })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611880"/>
            <a:ext cx="3401568" cy="135331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776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4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6732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t>Verify 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3367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bcrypt.compare against stored hash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3611880"/>
            <a:ext cx="3401568" cy="135331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776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4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376732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t>Issue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23367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JWT signed with user id; 30-day expiry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3611880"/>
            <a:ext cx="3401568" cy="1353312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37764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4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5984" y="376732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t>Store 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33672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Browser stores token in localStorage and redirects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15000"/>
            <a:ext cx="9875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7070"/>
                </a:solidFill>
                <a:latin typeface="Aptos"/>
              </a:defRPr>
            </a:pPr>
            <a:r>
              <a:t>Invalid credentials return HTTP 401 with an error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FROM SEARCH TO CONFIRMATION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Seat booking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07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94560"/>
            <a:ext cx="1645920" cy="1234440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194560"/>
            <a:ext cx="54864" cy="123444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87752"/>
            <a:ext cx="148132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GET /api/trains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04288" y="2816352"/>
            <a:ext cx="219456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8608" y="2194560"/>
            <a:ext cx="1645920" cy="1234440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608" y="2194560"/>
            <a:ext cx="54864" cy="123444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6624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587752"/>
            <a:ext cx="148132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Train + bookings queried; live availability computed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24528" y="2816352"/>
            <a:ext cx="219456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98848" y="2194560"/>
            <a:ext cx="1645920" cy="1234440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98848" y="2194560"/>
            <a:ext cx="54864" cy="123444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2587752"/>
            <a:ext cx="148132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POST /api/bookings with Bearer token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44768" y="2816352"/>
            <a:ext cx="219456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19088" y="2194560"/>
            <a:ext cx="1645920" cy="1234440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19088" y="2194560"/>
            <a:ext cx="54864" cy="123444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Authorize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2587752"/>
            <a:ext cx="148132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JWT protect() verifies request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65008" y="2816352"/>
            <a:ext cx="219456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39328" y="2194560"/>
            <a:ext cx="1645920" cy="1234440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9328" y="2194560"/>
            <a:ext cx="54864" cy="123444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Allocate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2587752"/>
            <a:ext cx="148132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Same-row priority, then fallback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85248" y="2816352"/>
            <a:ext cx="219456" cy="0"/>
          </a:xfrm>
          <a:prstGeom prst="line">
            <a:avLst/>
          </a:prstGeom>
          <a:ln w="25400">
            <a:solidFill>
              <a:srgbClr val="00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59568" y="2194560"/>
            <a:ext cx="1645920" cy="1234440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59568" y="2194560"/>
            <a:ext cx="54864" cy="123444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87584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9296" y="2587752"/>
            <a:ext cx="148132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Save train seats + booking document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160520"/>
            <a:ext cx="4663440" cy="96012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31596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70E0AA"/>
                </a:solidFill>
                <a:latin typeface="Aptos"/>
              </a:defRPr>
            </a:pPr>
            <a:r>
              <a:t>SUCCESS  ·  HTTP 201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4645152"/>
            <a:ext cx="4114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Booking ID, seats and passenger details returned.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4160520"/>
            <a:ext cx="4663440" cy="96012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31596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F7070"/>
                </a:solidFill>
                <a:latin typeface="Aptos"/>
              </a:defRPr>
            </a:pPr>
            <a:r>
              <a:t>INSUFFICIENT SEATS  ·  HTTP 409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645152"/>
            <a:ext cx="4114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Clear error response when requested seats are unavailable.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KEEP GROUPS TOGETHER WHERE POSSIBLE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Smart seat allocation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08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28800"/>
            <a:ext cx="4754880" cy="342900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1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BEAA"/>
                </a:solidFill>
                <a:latin typeface="Aptos"/>
              </a:defRPr>
            </a:pPr>
            <a:r>
              <a:t>STRATEGY 1  ·  SAME-ROW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51760"/>
            <a:ext cx="4069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7FAFF"/>
                </a:solidFill>
                <a:latin typeface="Aptos"/>
              </a:defRPr>
            </a:pPr>
            <a:r>
              <a:t>Scan each row for N consecutive free seats.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F7FAFF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F7FAFF"/>
                </a:solidFill>
                <a:latin typeface="Aptos"/>
              </a:defRPr>
            </a:pPr>
            <a:r>
              <a:t>If found, assign adjacent seats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81912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12263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42615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72968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03320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4471416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81912" y="4471416"/>
            <a:ext cx="393192" cy="201168"/>
          </a:xfrm>
          <a:prstGeom prst="roundRect">
            <a:avLst/>
          </a:prstGeom>
          <a:solidFill>
            <a:srgbClr val="00BEAA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12263" y="4471416"/>
            <a:ext cx="393192" cy="201168"/>
          </a:xfrm>
          <a:prstGeom prst="roundRect">
            <a:avLst/>
          </a:prstGeom>
          <a:solidFill>
            <a:srgbClr val="00BEAA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42615" y="4471416"/>
            <a:ext cx="393192" cy="201168"/>
          </a:xfrm>
          <a:prstGeom prst="roundRect">
            <a:avLst/>
          </a:prstGeom>
          <a:solidFill>
            <a:srgbClr val="00BEAA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72968" y="4471416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03320" y="4471416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81912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12263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642615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72968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03320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89320" y="1828800"/>
            <a:ext cx="4754880" cy="342900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084831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4B"/>
                </a:solidFill>
                <a:latin typeface="Aptos"/>
              </a:defRPr>
            </a:pPr>
            <a:r>
              <a:t>STRATEGY 2  ·  SCATTER 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2651760"/>
            <a:ext cx="3977639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If no consecutive run exists, scan rows and columns for the first N free seats.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160520"/>
            <a:ext cx="393192" cy="201168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85432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15783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46136" y="4160520"/>
            <a:ext cx="393192" cy="201168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76488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06840" y="4160520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55080" y="4471416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885432" y="4471416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15783" y="4471416"/>
            <a:ext cx="393192" cy="201168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46136" y="4471416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76488" y="4471416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006840" y="4471416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55080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85432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15783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46136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476488" y="4782312"/>
            <a:ext cx="393192" cy="201168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006840" y="4782312"/>
            <a:ext cx="393192" cy="201168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D2E0EE"/>
                </a:solidFill>
                <a:latin typeface="Aptos"/>
              </a:defRPr>
            </a:pPr>
            <a:r>
              <a:t>Finally: update bookedSeats, decrement available seats, save Train, and create Booking.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ONE ORIGIN FOR FRONTEND AND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API surface &amp; unified proxy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09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783080"/>
            <a:ext cx="5120640" cy="74980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7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BEAA"/>
                </a:solidFill>
                <a:latin typeface="Aptos"/>
              </a:defRPr>
            </a:pPr>
            <a:r>
              <a:t>AUTH  ·  /api/auth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874519"/>
            <a:ext cx="2560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D2E0EE"/>
                </a:solidFill>
                <a:latin typeface="Aptos"/>
              </a:defRPr>
            </a:pPr>
            <a:r>
              <a:t>POST /register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D2E0EE"/>
                </a:solidFill>
                <a:latin typeface="Aptos"/>
              </a:defRPr>
            </a:pPr>
            <a:r>
              <a:t>POST /login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D2E0EE"/>
                </a:solidFill>
                <a:latin typeface="Aptos"/>
              </a:defRPr>
            </a:pPr>
            <a:r>
              <a:t>GET /me  (JWT)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743200"/>
            <a:ext cx="5120640" cy="74980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52928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FBE4B"/>
                </a:solidFill>
                <a:latin typeface="Aptos"/>
              </a:defRPr>
            </a:pPr>
            <a:r>
              <a:t>TRAINS  ·  /api/trains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834640"/>
            <a:ext cx="2560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D2E0EE"/>
                </a:solidFill>
                <a:latin typeface="Aptos"/>
              </a:defRPr>
            </a:pPr>
            <a:r>
              <a:t>GET /  — list trains + live seats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03320"/>
            <a:ext cx="5120640" cy="74980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0E0AA"/>
                </a:solidFill>
                <a:latin typeface="Aptos"/>
              </a:defRPr>
            </a:pPr>
            <a:r>
              <a:t>BOOKINGS  ·  /api/bookings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794759"/>
            <a:ext cx="2560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D2E0EE"/>
                </a:solidFill>
                <a:latin typeface="Aptos"/>
              </a:defRPr>
            </a:pPr>
            <a:r>
              <a:t>POST /  — create (JWT)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D2E0EE"/>
                </a:solidFill>
                <a:latin typeface="Aptos"/>
              </a:defRPr>
            </a:pPr>
            <a:r>
              <a:t>GET /  — history (JWT)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663440"/>
            <a:ext cx="5120640" cy="749808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F7070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754880"/>
            <a:ext cx="2560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D2E0EE"/>
                </a:solidFill>
                <a:latin typeface="Aptos"/>
              </a:defRPr>
            </a:pPr>
            <a:r>
              <a:t>GET /health  — status: 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783080"/>
            <a:ext cx="4983480" cy="370332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1168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0BEAA"/>
                </a:solidFill>
                <a:latin typeface="Aptos"/>
              </a:defRPr>
            </a:pPr>
            <a:r>
              <a:t>PROXY LIFECYCLE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660903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2560320"/>
            <a:ext cx="4142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/api/* and /health → Express :3000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685032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3584448"/>
            <a:ext cx="4142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Clone request headers; remove Origin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709160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9128" y="4608576"/>
            <a:ext cx="4142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Forward method, headers and body stream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5733288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9128" y="5632704"/>
            <a:ext cx="4142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Pipe backend status, headers and body back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6757416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6656832"/>
            <a:ext cx="4142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Backend offline → HTTP 502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7781544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39128" y="7680960"/>
            <a:ext cx="4142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Static assets served with MIME type; missing file → 404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80644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50" b="0">
                <a:solidFill>
                  <a:srgbClr val="97B0C9"/>
                </a:solidFill>
                <a:latin typeface="Aptos"/>
              </a:defRPr>
            </a:pPr>
            <a:r>
              <a:t>Environment-aware API URL: Live Server :5500 uses absolute localhost API; :5501 and ngrok use relative paths.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11480"/>
            <a:ext cx="960120" cy="96012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417320"/>
            <a:ext cx="502920" cy="50292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40680"/>
            <a:ext cx="1234440" cy="1234440"/>
          </a:xfrm>
          <a:prstGeom prst="ellipse">
            <a:avLst/>
          </a:prstGeom>
          <a:solidFill>
            <a:srgbClr val="12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623560"/>
            <a:ext cx="411480" cy="411480"/>
          </a:xfrm>
          <a:prstGeom prst="ellipse">
            <a:avLst/>
          </a:prstGeom>
          <a:solidFill>
            <a:srgbClr val="1D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8869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BEAA"/>
                </a:solidFill>
                <a:latin typeface="Aptos"/>
              </a:defRPr>
            </a:pPr>
            <a:r>
              <a:t>BUILT FOR A CLEAR END-TO-END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607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7FAFF"/>
                </a:solidFill>
                <a:latin typeface="Aptos"/>
              </a:defRPr>
            </a:pPr>
            <a:r>
              <a:t>Data model &amp; technical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389888"/>
            <a:ext cx="685800" cy="411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7B0C9"/>
                </a:solidFill>
                <a:latin typeface="Aptos"/>
              </a:defRPr>
            </a:pPr>
            <a:r>
              <a:t>10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192024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54864" cy="80467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20240"/>
            <a:ext cx="1719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221992"/>
            <a:ext cx="17556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name · email · password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828800"/>
            <a:ext cx="192024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828800"/>
            <a:ext cx="54864" cy="804672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1920240"/>
            <a:ext cx="1719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221992"/>
            <a:ext cx="17556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route · schedule · seats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828800"/>
            <a:ext cx="192024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54864" cy="804672"/>
          </a:xfrm>
          <a:prstGeom prst="rect">
            <a:avLst/>
          </a:prstGeom>
          <a:solidFill>
            <a:srgbClr val="70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1920240"/>
            <a:ext cx="1719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2221992"/>
            <a:ext cx="17556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bookingId · passengers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1828800"/>
            <a:ext cx="1920240" cy="804672"/>
          </a:xfrm>
          <a:prstGeom prst="roundRect">
            <a:avLst/>
          </a:prstGeom>
          <a:solidFill>
            <a:srgbClr val="1D3D5E"/>
          </a:solidFill>
          <a:ln>
            <a:solidFill>
              <a:srgbClr val="1D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72600" y="1828800"/>
            <a:ext cx="54864" cy="804672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0616" y="1920240"/>
            <a:ext cx="1719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AFF"/>
                </a:solidFill>
                <a:latin typeface="Aptos"/>
              </a:defRPr>
            </a:pPr>
            <a:r>
              <a:t>PASSENGER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221992"/>
            <a:ext cx="17556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D2E0EE"/>
                </a:solidFill>
                <a:latin typeface="Aptos"/>
              </a:defRPr>
            </a:pPr>
            <a:r>
              <a:t>seatId · name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2231136"/>
            <a:ext cx="1005840" cy="0"/>
          </a:xfrm>
          <a:prstGeom prst="line">
            <a:avLst/>
          </a:prstGeom>
          <a:ln w="25400">
            <a:solidFill>
              <a:srgbClr val="97B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77840" y="2231136"/>
            <a:ext cx="1005840" cy="0"/>
          </a:xfrm>
          <a:prstGeom prst="line">
            <a:avLst/>
          </a:prstGeom>
          <a:ln w="25400">
            <a:solidFill>
              <a:srgbClr val="97B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03920" y="2231136"/>
            <a:ext cx="868680" cy="0"/>
          </a:xfrm>
          <a:prstGeom prst="line">
            <a:avLst/>
          </a:prstGeom>
          <a:ln w="25400">
            <a:solidFill>
              <a:srgbClr val="97B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" y="2880360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50" b="0">
                <a:solidFill>
                  <a:srgbClr val="D2E0EE"/>
                </a:solidFill>
                <a:latin typeface="Aptos"/>
              </a:defRPr>
            </a:pPr>
            <a:r>
              <a:t>Relationships: users make bookings • trains have bookings and seat classes • bookings include passengers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520440"/>
            <a:ext cx="10652760" cy="2148840"/>
          </a:xfrm>
          <a:prstGeom prst="roundRect">
            <a:avLst/>
          </a:prstGeom>
          <a:solidFill>
            <a:srgbClr val="17304E"/>
          </a:solidFill>
          <a:ln>
            <a:solidFill>
              <a:srgbClr val="17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373075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BEAA"/>
                </a:solidFill>
                <a:latin typeface="Aptos"/>
              </a:defRPr>
            </a:pPr>
            <a:r>
              <a:t>PORTFOLIO HIGHLIGHTS</a:t>
            </a:r>
          </a:p>
        </p:txBody>
      </p:sp>
      <p:sp>
        <p:nvSpPr>
          <p:cNvPr id="33" name="Oval 32"/>
          <p:cNvSpPr/>
          <p:nvPr/>
        </p:nvSpPr>
        <p:spPr>
          <a:xfrm>
            <a:off x="1005840" y="4306824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" y="4206240"/>
            <a:ext cx="958291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Zero-dependency Node.js reverse proxy and one ngrok tunnel</a:t>
            </a:r>
          </a:p>
        </p:txBody>
      </p:sp>
      <p:sp>
        <p:nvSpPr>
          <p:cNvPr id="35" name="Oval 34"/>
          <p:cNvSpPr/>
          <p:nvPr/>
        </p:nvSpPr>
        <p:spPr>
          <a:xfrm>
            <a:off x="1005840" y="5330952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7008" y="5230368"/>
            <a:ext cx="958291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JWT + bcrypt security; live seat availability; responsive mobile-first UI</a:t>
            </a:r>
          </a:p>
        </p:txBody>
      </p:sp>
      <p:sp>
        <p:nvSpPr>
          <p:cNvPr id="37" name="Oval 36"/>
          <p:cNvSpPr/>
          <p:nvPr/>
        </p:nvSpPr>
        <p:spPr>
          <a:xfrm>
            <a:off x="1005840" y="6355080"/>
            <a:ext cx="91440" cy="9144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6254496"/>
            <a:ext cx="958291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D2E0EE"/>
                </a:solidFill>
                <a:latin typeface="Aptos"/>
              </a:defRPr>
            </a:pPr>
            <a:r>
              <a:t>Dynamic API URL detection across Live Server, local proxy and public tunnel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BE4B"/>
                </a:solidFill>
                <a:latin typeface="Aptos"/>
              </a:defRPr>
            </a:pPr>
            <a:r>
              <a:t>#NodeJS  #ExpressJS  #MongoDB  #JWT  #VanillaJS  #ngrok  #FullStack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