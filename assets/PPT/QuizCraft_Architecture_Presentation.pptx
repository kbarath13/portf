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94960"/>
            <a:ext cx="2468880" cy="2468880"/>
          </a:xfrm>
          <a:prstGeom prst="ellipse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051560" cy="50292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DB9D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115568"/>
            <a:ext cx="1691640" cy="329184"/>
          </a:xfrm>
          <a:prstGeom prst="round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28800"/>
            <a:ext cx="713232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5000" b="1">
                <a:solidFill>
                  <a:srgbClr val="F5F8FF"/>
                </a:solidFill>
                <a:latin typeface="Aptos"/>
              </a:defRPr>
            </a:pPr>
            <a:r>
              <a:t>QuizCraft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07792"/>
            <a:ext cx="74066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9978FF"/>
                </a:solidFill>
                <a:latin typeface="Aptos"/>
              </a:defRPr>
            </a:pPr>
            <a:r>
              <a:t>AI-Powered Educational Quiz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657600"/>
            <a:ext cx="67665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ADB9D3"/>
                </a:solidFill>
                <a:latin typeface="Aptos"/>
              </a:defRPr>
            </a:pPr>
            <a:r>
              <a:t>Full-stack MERN • Real-time chat • AI quiz generation • Gamified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417320"/>
            <a:ext cx="3246120" cy="96012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1572768"/>
            <a:ext cx="54864" cy="649224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1581912"/>
            <a:ext cx="288036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51DDDB"/>
                </a:solidFill>
                <a:latin typeface="Aptos"/>
              </a:defRPr>
            </a:pPr>
            <a:r>
              <a:t>TODAY'S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1984248"/>
            <a:ext cx="2862072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Build knowledge. Earn XP.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743200"/>
            <a:ext cx="2880360" cy="475488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AI QUIZ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273552"/>
            <a:ext cx="2286000" cy="73152"/>
          </a:xfrm>
          <a:prstGeom prst="roundRect">
            <a:avLst/>
          </a:prstGeom>
          <a:solidFill>
            <a:srgbClr val="23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3273552"/>
            <a:ext cx="1874519" cy="73152"/>
          </a:xfrm>
          <a:prstGeom prst="round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3474720"/>
            <a:ext cx="2880360" cy="475488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CLASSROOM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4005072"/>
            <a:ext cx="2286000" cy="73152"/>
          </a:xfrm>
          <a:prstGeom prst="roundRect">
            <a:avLst/>
          </a:prstGeom>
          <a:solidFill>
            <a:srgbClr val="23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66760" y="4005072"/>
            <a:ext cx="1508760" cy="73152"/>
          </a:xfrm>
          <a:prstGeom prst="round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4206240"/>
            <a:ext cx="2880360" cy="475488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51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LEADERBOARD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736592"/>
            <a:ext cx="2286000" cy="73152"/>
          </a:xfrm>
          <a:prstGeom prst="roundRect">
            <a:avLst/>
          </a:prstGeom>
          <a:solidFill>
            <a:srgbClr val="23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66760" y="4736592"/>
            <a:ext cx="2057400" cy="73152"/>
          </a:xfrm>
          <a:prstGeom prst="round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016752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ADB9D3"/>
                </a:solidFill>
                <a:latin typeface="Aptos"/>
              </a:defRPr>
            </a:pPr>
            <a:r>
              <a:t>ARCHITECTURE OVERVIEW  |  10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94960"/>
            <a:ext cx="2468880" cy="2468880"/>
          </a:xfrm>
          <a:prstGeom prst="ellipse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051560" cy="50292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DB9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01  |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115568"/>
            <a:ext cx="106070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9D3"/>
                </a:solidFill>
                <a:latin typeface="Aptos"/>
              </a:defRPr>
            </a:pPr>
            <a:r>
              <a:t>An educational platform connecting teachers and students through quizzes, classrooms, chat, and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383280" cy="182880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47088"/>
            <a:ext cx="54864" cy="1517904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3017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9978FF"/>
                </a:solidFill>
                <a:latin typeface="Aptos"/>
              </a:defRPr>
            </a:pPr>
            <a:r>
              <a:t>AI QUIZ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58568"/>
            <a:ext cx="2999232" cy="1170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Create questions from a topic or uploaded PDF, with live streaming as questions are generated.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91640"/>
            <a:ext cx="3383280" cy="182880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847088"/>
            <a:ext cx="54864" cy="1517904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56232"/>
            <a:ext cx="3017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AD5C"/>
                </a:solidFill>
                <a:latin typeface="Aptos"/>
              </a:defRPr>
            </a:pPr>
            <a:r>
              <a:t>CLASSROOMS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258568"/>
            <a:ext cx="2999232" cy="1170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Teachers create classrooms and assign quizzes; students join using an 8-character class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691640"/>
            <a:ext cx="3383280" cy="182880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847088"/>
            <a:ext cx="54864" cy="1517904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856232"/>
            <a:ext cx="3017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51DDDB"/>
                </a:solidFill>
                <a:latin typeface="Aptos"/>
              </a:defRPr>
            </a:pPr>
            <a:r>
              <a:t>COMMUNITY &amp;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258568"/>
            <a:ext cx="2999232" cy="1170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Private, group, classroom, and global chat plus friends, badges, and leaderboards.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100584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AD5C"/>
                </a:solidFill>
                <a:latin typeface="Aptos"/>
              </a:defRPr>
            </a:pPr>
            <a:r>
              <a:t>Core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996696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F5F8FF"/>
                </a:solidFill>
                <a:latin typeface="Aptos"/>
              </a:defRPr>
            </a:pPr>
            <a:r>
              <a:t>Learn, practice, collaborate, and track progress in one full-stack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94960"/>
            <a:ext cx="2468880" cy="2468880"/>
          </a:xfrm>
          <a:prstGeom prst="ellipse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051560" cy="50292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DB9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02  |  High-Level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115568"/>
            <a:ext cx="106070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9D3"/>
                </a:solidFill>
                <a:latin typeface="Aptos"/>
              </a:defRPr>
            </a:pPr>
            <a:r>
              <a:t>A single public tunnel reaches the unified dev server, which routes traffic to the SPA, REST API, and WebSocket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1965960" cy="3611880"/>
          </a:xfrm>
          <a:prstGeom prst="roundRect">
            <a:avLst/>
          </a:prstGeom>
          <a:solidFill>
            <a:srgbClr val="192036"/>
          </a:solidFill>
          <a:ln w="1524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7830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9978FF"/>
                </a:solidFill>
                <a:latin typeface="Aptos"/>
              </a:defRPr>
            </a:pPr>
            <a:r>
              <a:t>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" y="2350008"/>
            <a:ext cx="1673351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Desktop browser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" y="3099816"/>
            <a:ext cx="1673351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Mobile browser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" y="3849624"/>
            <a:ext cx="1673351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Postman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691640"/>
            <a:ext cx="1965960" cy="3611880"/>
          </a:xfrm>
          <a:prstGeom prst="roundRect">
            <a:avLst/>
          </a:prstGeom>
          <a:solidFill>
            <a:srgbClr val="192036"/>
          </a:solidFill>
          <a:ln w="1524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828800"/>
            <a:ext cx="17830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AD5C"/>
                </a:solidFill>
                <a:latin typeface="Aptos"/>
              </a:defRPr>
            </a:pPr>
            <a:r>
              <a:t>NGROK EDGE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9504" y="2350008"/>
            <a:ext cx="1673351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HTTPS / WSS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9504" y="3099816"/>
            <a:ext cx="1673351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SSL termination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9504" y="3849624"/>
            <a:ext cx="1673351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Global CDN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1691640"/>
            <a:ext cx="2240280" cy="3611880"/>
          </a:xfrm>
          <a:prstGeom prst="roundRect">
            <a:avLst/>
          </a:prstGeom>
          <a:solidFill>
            <a:srgbClr val="192036"/>
          </a:solidFill>
          <a:ln w="15240">
            <a:solidFill>
              <a:srgbClr val="7BE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828800"/>
            <a:ext cx="20574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7BE0A7"/>
                </a:solidFill>
                <a:latin typeface="Aptos"/>
              </a:defRPr>
            </a:pPr>
            <a:r>
              <a:t>DEV SERVER :5501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9784" y="2350008"/>
            <a:ext cx="1947672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7BE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Node reverse proxy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9784" y="3099816"/>
            <a:ext cx="1947672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7BE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Static React build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9784" y="3849624"/>
            <a:ext cx="1947672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7BE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WebSocket proxy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691640"/>
            <a:ext cx="2057400" cy="3611880"/>
          </a:xfrm>
          <a:prstGeom prst="roundRect">
            <a:avLst/>
          </a:prstGeom>
          <a:solidFill>
            <a:srgbClr val="192036"/>
          </a:solidFill>
          <a:ln w="15240">
            <a:solidFill>
              <a:srgbClr val="FF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1828800"/>
            <a:ext cx="1874519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75A3"/>
                </a:solidFill>
                <a:latin typeface="Aptos"/>
              </a:defRPr>
            </a:pPr>
            <a:r>
              <a:t>EXPRESS :5000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44383" y="2350008"/>
            <a:ext cx="1764792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44383" y="3099816"/>
            <a:ext cx="1764792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JWT middleware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44383" y="3849624"/>
            <a:ext cx="1764792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WebSocket server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691640"/>
            <a:ext cx="1874519" cy="3611880"/>
          </a:xfrm>
          <a:prstGeom prst="roundRect">
            <a:avLst/>
          </a:prstGeom>
          <a:solidFill>
            <a:srgbClr val="192036"/>
          </a:solidFill>
          <a:ln w="15240">
            <a:solidFill>
              <a:srgbClr val="51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1828800"/>
            <a:ext cx="1691639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1DDDB"/>
                </a:solidFill>
                <a:latin typeface="Aptos"/>
              </a:defRPr>
            </a:pPr>
            <a:r>
              <a:t>DATA + 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76104" y="2350008"/>
            <a:ext cx="1581911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51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76104" y="3099816"/>
            <a:ext cx="1581911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51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Uploads folder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6104" y="3849624"/>
            <a:ext cx="1581911" cy="50292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51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Ollama AI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468880" y="3474720"/>
            <a:ext cx="274320" cy="0"/>
          </a:xfrm>
          <a:prstGeom prst="line">
            <a:avLst/>
          </a:prstGeom>
          <a:ln w="1778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09160" y="3474720"/>
            <a:ext cx="274320" cy="0"/>
          </a:xfrm>
          <a:prstGeom prst="line">
            <a:avLst/>
          </a:prstGeom>
          <a:ln w="1778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23760" y="3474720"/>
            <a:ext cx="274319" cy="0"/>
          </a:xfrm>
          <a:prstGeom prst="line">
            <a:avLst/>
          </a:prstGeom>
          <a:ln w="1778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555480" y="3474720"/>
            <a:ext cx="274320" cy="0"/>
          </a:xfrm>
          <a:prstGeom prst="line">
            <a:avLst/>
          </a:prstGeom>
          <a:ln w="1778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DB9D3"/>
                </a:solidFill>
                <a:latin typeface="Aptos"/>
              </a:defRPr>
            </a:pPr>
            <a:r>
              <a:t>Browser / API tool → Ngrok → dev-server.js → REST + WebSocket → MongoDB / file storage / Ollama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94960"/>
            <a:ext cx="2468880" cy="2468880"/>
          </a:xfrm>
          <a:prstGeom prst="ellipse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051560" cy="50292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DB9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03  |  React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115568"/>
            <a:ext cx="106070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9D3"/>
                </a:solidFill>
                <a:latin typeface="Aptos"/>
              </a:defRPr>
            </a:pPr>
            <a:r>
              <a:t>25+ components organized around authentication, dashboards, quizzes, chat, social features, and badges.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828800" cy="260604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84248"/>
            <a:ext cx="54864" cy="2295144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146304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9978FF"/>
                </a:solidFill>
                <a:latin typeface="Aptos"/>
              </a:defRPr>
            </a:pPr>
            <a:r>
              <a:t>AUTH &amp;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1444752" cy="19476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Login / Register</a:t>
            </a:r>
          </a:p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AuthButtons</a:t>
            </a:r>
          </a:p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App.js • Header.js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828800"/>
            <a:ext cx="1828800" cy="260604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1984248"/>
            <a:ext cx="54864" cy="2295144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72968" y="1993392"/>
            <a:ext cx="146304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AD5C"/>
                </a:solidFill>
                <a:latin typeface="Aptos"/>
              </a:defRPr>
            </a:pPr>
            <a:r>
              <a:t>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395728"/>
            <a:ext cx="1444752" cy="19476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TeacherDashboard</a:t>
            </a:r>
          </a:p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StudentDashboard</a:t>
            </a:r>
          </a:p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ClassroomDashboard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828800"/>
            <a:ext cx="1828800" cy="260604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1984248"/>
            <a:ext cx="54864" cy="2295144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1993392"/>
            <a:ext cx="146304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51DDDB"/>
                </a:solidFill>
                <a:latin typeface="Aptos"/>
              </a:defRPr>
            </a:pPr>
            <a:r>
              <a:t>QUIZ &amp; CLASSROOM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395728"/>
            <a:ext cx="1444752" cy="19476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QuizCreate • QuizTake</a:t>
            </a:r>
          </a:p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QuizList • QuizResult</a:t>
            </a:r>
          </a:p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ClassroomDetails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828800"/>
            <a:ext cx="1828800" cy="260604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1984248"/>
            <a:ext cx="54864" cy="2295144"/>
          </a:xfrm>
          <a:prstGeom prst="rect">
            <a:avLst/>
          </a:prstGeom>
          <a:solidFill>
            <a:srgbClr val="FF7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3528" y="1993392"/>
            <a:ext cx="146304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75A3"/>
                </a:solidFill>
                <a:latin typeface="Aptos"/>
              </a:defRPr>
            </a:pPr>
            <a:r>
              <a:t>CHAT &amp; 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8" y="2395728"/>
            <a:ext cx="1444752" cy="19476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ChatContext • ChatWindow</a:t>
            </a:r>
          </a:p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Friends • Profile</a:t>
            </a:r>
          </a:p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Leaderboard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828800"/>
            <a:ext cx="1828800" cy="260604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984248"/>
            <a:ext cx="54864" cy="2295144"/>
          </a:xfrm>
          <a:prstGeom prst="rect">
            <a:avLst/>
          </a:prstGeom>
          <a:solidFill>
            <a:srgbClr val="7B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3808" y="1993392"/>
            <a:ext cx="146304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BE0A7"/>
                </a:solidFill>
                <a:latin typeface="Aptos"/>
              </a:defRPr>
            </a:pPr>
            <a:r>
              <a:t>BADGES &amp;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2395728"/>
            <a:ext cx="1444752" cy="19476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AllBadges • BadgeEditor</a:t>
            </a:r>
          </a:p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AIMiniBot</a:t>
            </a:r>
          </a:p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apiConfig.js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983480"/>
            <a:ext cx="1828800" cy="329184"/>
          </a:xfrm>
          <a:prstGeom prst="round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REACT 19.1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4983480"/>
            <a:ext cx="2011680" cy="329184"/>
          </a:xfrm>
          <a:prstGeom prst="round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ROUTER 7.7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983480"/>
            <a:ext cx="1554480" cy="329184"/>
          </a:xfrm>
          <a:prstGeom prst="round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AXIOS 1.10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4983480"/>
            <a:ext cx="1828800" cy="329184"/>
          </a:xfrm>
          <a:prstGeom prst="roundRect">
            <a:avLst/>
          </a:prstGeom>
          <a:solidFill>
            <a:srgbClr val="FF7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TOASTIFY 11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4983480"/>
            <a:ext cx="1737360" cy="329184"/>
          </a:xfrm>
          <a:prstGeom prst="roundRect">
            <a:avLst/>
          </a:prstGeom>
          <a:solidFill>
            <a:srgbClr val="7B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REACT ICONS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ADB9D3"/>
                </a:solidFill>
                <a:latin typeface="Aptos"/>
              </a:defRPr>
            </a:pPr>
            <a:r>
              <a:t>Centralized API and WebSocket URLs support switching between local and tunneled modes.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94960"/>
            <a:ext cx="2468880" cy="2468880"/>
          </a:xfrm>
          <a:prstGeom prst="ellipse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051560" cy="50292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DB9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04  |  Backend &amp; Service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115568"/>
            <a:ext cx="106070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9D3"/>
                </a:solidFill>
                <a:latin typeface="Aptos"/>
              </a:defRPr>
            </a:pPr>
            <a:r>
              <a:t>Express.js 5.1 runs the REST API and WebSocket server, protected by shared authentication middleware.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2240280" cy="82296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12 Express Route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874519"/>
            <a:ext cx="2240280" cy="82296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JWT Auth Middleware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874519"/>
            <a:ext cx="2240280" cy="82296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51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Multer Upload Handler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874519"/>
            <a:ext cx="1828800" cy="82296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WebSocket Server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2286000"/>
            <a:ext cx="685800" cy="0"/>
          </a:xfrm>
          <a:prstGeom prst="line">
            <a:avLst/>
          </a:prstGeom>
          <a:ln w="2159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2286000"/>
            <a:ext cx="685800" cy="0"/>
          </a:xfrm>
          <a:prstGeom prst="line">
            <a:avLst/>
          </a:prstGeom>
          <a:ln w="21590">
            <a:solidFill>
              <a:srgbClr val="51DD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2286000"/>
            <a:ext cx="685800" cy="0"/>
          </a:xfrm>
          <a:prstGeom prst="line">
            <a:avLst/>
          </a:prstGeom>
          <a:ln w="21590">
            <a:solidFill>
              <a:srgbClr val="FF7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3429000"/>
            <a:ext cx="3337560" cy="150876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584448"/>
            <a:ext cx="54864" cy="1197863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93592"/>
            <a:ext cx="297180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9978FF"/>
                </a:solidFill>
                <a:latin typeface="Aptos"/>
              </a:defRPr>
            </a:pPr>
            <a:r>
              <a:t>API DOMAINS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995928"/>
            <a:ext cx="2953512" cy="8503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Auth, classrooms, quizzes, chat, leaderboard, profile, friends, badges, locations, AI, PDF.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29000"/>
            <a:ext cx="3337560" cy="150876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3584448"/>
            <a:ext cx="54864" cy="1197863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7" y="3593592"/>
            <a:ext cx="297180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AD5C"/>
                </a:solidFill>
                <a:latin typeface="Aptos"/>
              </a:defRPr>
            </a:pPr>
            <a:r>
              <a:t>AI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7" y="3995928"/>
            <a:ext cx="2953512" cy="8503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Ollama Gemma 2B supports topic-based quiz generation, PDF quiz creation, and doubt resolution.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429000"/>
            <a:ext cx="3337560" cy="150876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3584448"/>
            <a:ext cx="54864" cy="1197863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3593592"/>
            <a:ext cx="297180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51DDDB"/>
                </a:solidFill>
                <a:latin typeface="Aptos"/>
              </a:defRPr>
            </a:pPr>
            <a:r>
              <a:t>REAL-TIME 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3995928"/>
            <a:ext cx="2953512" cy="8503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WebSockets stream AI responses, deliver chat messages, and send read receipts.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3212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ADB9D3"/>
                </a:solidFill>
                <a:latin typeface="Aptos"/>
              </a:defRPr>
            </a:pPr>
            <a:r>
              <a:t>Runtime: Node.js 18+ LTS  •  Backend port: 5000  •  Proxy port: 5501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94960"/>
            <a:ext cx="2468880" cy="2468880"/>
          </a:xfrm>
          <a:prstGeom prst="ellipse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051560" cy="50292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DB9D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05  |  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115568"/>
            <a:ext cx="106070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9D3"/>
                </a:solidFill>
                <a:latin typeface="Aptos"/>
              </a:defRPr>
            </a:pPr>
            <a:r>
              <a:t>The stack combines a React SPA, Express services, MongoDB persistence, local LLM inference, and a unified proxy.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10561320" cy="576072"/>
          </a:xfrm>
          <a:prstGeom prst="roundRect">
            <a:avLst/>
          </a:prstGeom>
          <a:solidFill>
            <a:srgbClr val="192036"/>
          </a:solidFill>
          <a:ln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1627631"/>
            <a:ext cx="1508760" cy="329184"/>
          </a:xfrm>
          <a:prstGeom prst="round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618488"/>
            <a:ext cx="4023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t>React 19.1 • React Router 7.7 • Axios 1.10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627631"/>
            <a:ext cx="4343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DB9D3"/>
                </a:solidFill>
                <a:latin typeface="Aptos"/>
              </a:defRPr>
            </a:pPr>
            <a:r>
              <a:t>SPA, navigation, REST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231136"/>
            <a:ext cx="10561320" cy="576072"/>
          </a:xfrm>
          <a:prstGeom prst="roundRect">
            <a:avLst/>
          </a:prstGeom>
          <a:solidFill>
            <a:srgbClr val="192036"/>
          </a:solidFill>
          <a:ln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" y="2350008"/>
            <a:ext cx="1508760" cy="329184"/>
          </a:xfrm>
          <a:prstGeom prst="round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40864"/>
            <a:ext cx="4023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t>Node.js 18+ • Express 5.1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350008"/>
            <a:ext cx="4343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DB9D3"/>
                </a:solidFill>
                <a:latin typeface="Aptos"/>
              </a:defRPr>
            </a:pPr>
            <a:r>
              <a:t>REST routes, middleware, application 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953512"/>
            <a:ext cx="10561320" cy="576072"/>
          </a:xfrm>
          <a:prstGeom prst="roundRect">
            <a:avLst/>
          </a:prstGeom>
          <a:solidFill>
            <a:srgbClr val="192036"/>
          </a:solidFill>
          <a:ln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3072384"/>
            <a:ext cx="1508760" cy="329184"/>
          </a:xfrm>
          <a:prstGeom prst="round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063240"/>
            <a:ext cx="4023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t>MongoDB 7.x+ • Mongoose 8.16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072384"/>
            <a:ext cx="4343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DB9D3"/>
                </a:solidFill>
                <a:latin typeface="Aptos"/>
              </a:defRPr>
            </a:pPr>
            <a:r>
              <a:t>Document storage, schemas, queries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675887"/>
            <a:ext cx="10561320" cy="576072"/>
          </a:xfrm>
          <a:prstGeom prst="roundRect">
            <a:avLst/>
          </a:prstGeom>
          <a:solidFill>
            <a:srgbClr val="192036"/>
          </a:solidFill>
          <a:ln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" y="3794759"/>
            <a:ext cx="1508760" cy="329184"/>
          </a:xfrm>
          <a:prstGeom prst="roundRect">
            <a:avLst/>
          </a:prstGeom>
          <a:solidFill>
            <a:srgbClr val="FF7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AUTH &amp;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785615"/>
            <a:ext cx="4023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t>JWT • bcryptjs • Multer • cookie-parser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794759"/>
            <a:ext cx="4343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DB9D3"/>
                </a:solidFill>
                <a:latin typeface="Aptos"/>
              </a:defRPr>
            </a:pPr>
            <a:r>
              <a:t>Cookie auth, password hashes, uploads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398264"/>
            <a:ext cx="10561320" cy="576072"/>
          </a:xfrm>
          <a:prstGeom prst="roundRect">
            <a:avLst/>
          </a:prstGeom>
          <a:solidFill>
            <a:srgbClr val="192036"/>
          </a:solidFill>
          <a:ln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7552" y="4517136"/>
            <a:ext cx="1508760" cy="329184"/>
          </a:xfrm>
          <a:prstGeom prst="roundRect">
            <a:avLst/>
          </a:prstGeom>
          <a:solidFill>
            <a:srgbClr val="7BE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AI &amp; REAL-TIME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507992"/>
            <a:ext cx="4023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t>Ollama Gemma 2B • ws 8.18 • pdf-parse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517136"/>
            <a:ext cx="4343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DB9D3"/>
                </a:solidFill>
                <a:latin typeface="Aptos"/>
              </a:defRPr>
            </a:pPr>
            <a:r>
              <a:t>AI generation, streaming, PDF extraction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120640"/>
            <a:ext cx="10561320" cy="576072"/>
          </a:xfrm>
          <a:prstGeom prst="roundRect">
            <a:avLst/>
          </a:prstGeom>
          <a:solidFill>
            <a:srgbClr val="192036"/>
          </a:solidFill>
          <a:ln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7552" y="5239512"/>
            <a:ext cx="1508760" cy="329184"/>
          </a:xfrm>
          <a:prstGeom prst="round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5230368"/>
            <a:ext cx="40233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t>Custom zero-dependency proxy • Ngrok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239512"/>
            <a:ext cx="4343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DB9D3"/>
                </a:solidFill>
                <a:latin typeface="Aptos"/>
              </a:defRPr>
            </a:pPr>
            <a:r>
              <a:t>Single-tunnel HTTPS/WSS sharing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94960"/>
            <a:ext cx="2468880" cy="2468880"/>
          </a:xfrm>
          <a:prstGeom prst="ellipse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051560" cy="50292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DB9D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06  |  Authentication &amp; Protected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115568"/>
            <a:ext cx="106070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9D3"/>
                </a:solidFill>
                <a:latin typeface="Aptos"/>
              </a:defRPr>
            </a:pPr>
            <a:r>
              <a:t>Registration and login issue an httpOnly JWT cookie; protected routes verify the token before returning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1828800" cy="59436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1.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52928"/>
            <a:ext cx="1828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Register / 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148840"/>
            <a:ext cx="1828800" cy="59436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2. REACT SPA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852928"/>
            <a:ext cx="1828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POST /api/auth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148840"/>
            <a:ext cx="1828800" cy="59436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51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3.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852928"/>
            <a:ext cx="1828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Check user + bcrypt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148840"/>
            <a:ext cx="1828800" cy="59436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4. JWT COOKIE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852928"/>
            <a:ext cx="1828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Sign token + set cookie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148840"/>
            <a:ext cx="1828800" cy="59436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7BE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5. PROTECTED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852928"/>
            <a:ext cx="18288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Verify JWT middleware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60320" y="2450592"/>
            <a:ext cx="411480" cy="0"/>
          </a:xfrm>
          <a:prstGeom prst="line">
            <a:avLst/>
          </a:prstGeom>
          <a:ln w="1778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00600" y="2450592"/>
            <a:ext cx="411480" cy="0"/>
          </a:xfrm>
          <a:prstGeom prst="line">
            <a:avLst/>
          </a:prstGeom>
          <a:ln w="1778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40880" y="2450592"/>
            <a:ext cx="411480" cy="0"/>
          </a:xfrm>
          <a:prstGeom prst="line">
            <a:avLst/>
          </a:prstGeom>
          <a:ln w="1778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281160" y="2450592"/>
            <a:ext cx="411480" cy="0"/>
          </a:xfrm>
          <a:prstGeom prst="line">
            <a:avLst/>
          </a:prstGeom>
          <a:ln w="1778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4069080"/>
            <a:ext cx="3154680" cy="123444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224528"/>
            <a:ext cx="54864" cy="923544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233672"/>
            <a:ext cx="27889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9978FF"/>
                </a:solidFill>
                <a:latin typeface="Aptos"/>
              </a:defRPr>
            </a:pPr>
            <a:r>
              <a:t>PASSWORD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636008"/>
            <a:ext cx="2770632" cy="5760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bcryptjs hashes passwords with a salt before storage.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4069080"/>
            <a:ext cx="3154680" cy="123444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4224528"/>
            <a:ext cx="54864" cy="923544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7448" y="4233672"/>
            <a:ext cx="27889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AD5C"/>
                </a:solidFill>
                <a:latin typeface="Aptos"/>
              </a:defRPr>
            </a:pPr>
            <a:r>
              <a:t>COOKIE 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36008"/>
            <a:ext cx="2770632" cy="5760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httpOnly JWT cookie is forwarded through the proxy.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069080"/>
            <a:ext cx="3154680" cy="123444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224528"/>
            <a:ext cx="54864" cy="923544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8" y="4233672"/>
            <a:ext cx="27889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51DDDB"/>
                </a:solidFill>
                <a:latin typeface="Aptos"/>
              </a:defRPr>
            </a:pPr>
            <a:r>
              <a:t>USER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4636008"/>
            <a:ext cx="2770632" cy="5760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Verified JWT provides the user ID for protected data access.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715000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ADB9D3"/>
                </a:solidFill>
                <a:latin typeface="Aptos"/>
              </a:defRPr>
            </a:pPr>
            <a:r>
              <a:t>Source flow: Register → Login → Access protected resource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94960"/>
            <a:ext cx="2468880" cy="2468880"/>
          </a:xfrm>
          <a:prstGeom prst="ellipse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051560" cy="50292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DB9D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07  |  AI Generation &amp; Real-Time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115568"/>
            <a:ext cx="106070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9D3"/>
                </a:solidFill>
                <a:latin typeface="Aptos"/>
              </a:defRPr>
            </a:pPr>
            <a:r>
              <a:t>Ollama and WebSockets power live question generation, PDF-based quizzes, and persistent chat.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383280" cy="201168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92807"/>
            <a:ext cx="54864" cy="1700784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01952"/>
            <a:ext cx="3017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9978FF"/>
                </a:solidFill>
                <a:latin typeface="Aptos"/>
              </a:defRPr>
            </a:pPr>
            <a:r>
              <a:t>TOPIC-BASED QUIZ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04288"/>
            <a:ext cx="2999232" cy="1353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Teacher enters topic and question count. Gemma 2B streams partial question data to the browser.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37360"/>
            <a:ext cx="3383280" cy="201168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92807"/>
            <a:ext cx="54864" cy="1700784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901952"/>
            <a:ext cx="3017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AD5C"/>
                </a:solidFill>
                <a:latin typeface="Aptos"/>
              </a:defRPr>
            </a:pPr>
            <a:r>
              <a:t>PDF-TO-QUIZ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304288"/>
            <a:ext cx="2999232" cy="1353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Uploaded PDF is parsed, then the extracted text is passed to AI for question generation.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383280" cy="201168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892807"/>
            <a:ext cx="54864" cy="1700784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901952"/>
            <a:ext cx="3017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51DDDB"/>
                </a:solidFill>
                <a:latin typeface="Aptos"/>
              </a:defRPr>
            </a:pPr>
            <a:r>
              <a:t>LIVE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04288"/>
            <a:ext cx="2999232" cy="1353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Messages are persisted in MongoDB and broadcast to room members; read receipts update senders.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434840"/>
            <a:ext cx="1645920" cy="621792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React Client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4434840"/>
            <a:ext cx="1645920" cy="621792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WebSocket Proxy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4434840"/>
            <a:ext cx="1645920" cy="621792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51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Express / 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434840"/>
            <a:ext cx="1645920" cy="621792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Ollama or MongoDB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4434840"/>
            <a:ext cx="1645920" cy="621792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7BE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Live UI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4745736"/>
            <a:ext cx="594360" cy="0"/>
          </a:xfrm>
          <a:prstGeom prst="line">
            <a:avLst/>
          </a:prstGeom>
          <a:ln w="1778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83480" y="4745736"/>
            <a:ext cx="594360" cy="0"/>
          </a:xfrm>
          <a:prstGeom prst="line">
            <a:avLst/>
          </a:prstGeom>
          <a:ln w="1778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223760" y="4745736"/>
            <a:ext cx="594360" cy="0"/>
          </a:xfrm>
          <a:prstGeom prst="line">
            <a:avLst/>
          </a:prstGeom>
          <a:ln w="1778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464040" y="4745736"/>
            <a:ext cx="594360" cy="0"/>
          </a:xfrm>
          <a:prstGeom prst="line">
            <a:avLst/>
          </a:prstGeom>
          <a:ln w="1778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ADB9D3"/>
                </a:solidFill>
                <a:latin typeface="Aptos"/>
              </a:defRPr>
            </a:pPr>
            <a:r>
              <a:t>WebSocket messages cover quiz generation, chat messages, room history, and read-receipt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94960"/>
            <a:ext cx="2468880" cy="2468880"/>
          </a:xfrm>
          <a:prstGeom prst="ellipse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051560" cy="50292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DB9D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08  |  Data Model &amp; Gamification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115568"/>
            <a:ext cx="106070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9D3"/>
                </a:solidFill>
                <a:latin typeface="Aptos"/>
              </a:defRPr>
            </a:pPr>
            <a:r>
              <a:t>MongoDB stores users, quizzes, classrooms, attempts, chat, and achievement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057400"/>
            <a:ext cx="2331720" cy="68580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USER</a:t>
            </a:r>
            <a:br/>
            <a:r>
              <a:t>XP • Level • Streaks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1920240" cy="64008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QUIZZES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1920240" cy="64008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51D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QUIZ ATTEMPTS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4160520"/>
            <a:ext cx="1920240" cy="64008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CLASSROOMS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160520"/>
            <a:ext cx="1920240" cy="64008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7BE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ASSIGNED QUIZZES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3246120"/>
            <a:ext cx="1920240" cy="64008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99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CHATROOMS /</a:t>
            </a:r>
            <a:br/>
            <a:r>
              <a:t>MESSAGES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737360"/>
            <a:ext cx="1920240" cy="640080"/>
          </a:xfrm>
          <a:prstGeom prst="roundRect">
            <a:avLst/>
          </a:prstGeom>
          <a:solidFill>
            <a:srgbClr val="232D48"/>
          </a:solidFill>
          <a:ln w="1651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BADGES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2057400"/>
            <a:ext cx="2103120" cy="274320"/>
          </a:xfrm>
          <a:prstGeom prst="line">
            <a:avLst/>
          </a:prstGeom>
          <a:ln w="1651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743200" y="2606040"/>
            <a:ext cx="2103120" cy="914400"/>
          </a:xfrm>
          <a:prstGeom prst="line">
            <a:avLst/>
          </a:prstGeom>
          <a:ln w="16510">
            <a:solidFill>
              <a:srgbClr val="51DD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114800" y="2743200"/>
            <a:ext cx="1280160" cy="1417320"/>
          </a:xfrm>
          <a:prstGeom prst="line">
            <a:avLst/>
          </a:prstGeom>
          <a:ln w="16510">
            <a:solidFill>
              <a:srgbClr val="FF7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2743200"/>
            <a:ext cx="1645920" cy="1417320"/>
          </a:xfrm>
          <a:prstGeom prst="line">
            <a:avLst/>
          </a:prstGeom>
          <a:ln w="16510">
            <a:solidFill>
              <a:srgbClr val="7BE0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178040" y="2103120"/>
            <a:ext cx="2148840" cy="274320"/>
          </a:xfrm>
          <a:prstGeom prst="line">
            <a:avLst/>
          </a:prstGeom>
          <a:ln w="1651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78040" y="2606040"/>
            <a:ext cx="2148840" cy="914400"/>
          </a:xfrm>
          <a:prstGeom prst="line">
            <a:avLst/>
          </a:prstGeom>
          <a:ln w="16510">
            <a:solidFill>
              <a:srgbClr val="997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063240" y="5074920"/>
            <a:ext cx="6126480" cy="73152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63240" y="5230368"/>
            <a:ext cx="54864" cy="420624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5239512"/>
            <a:ext cx="57607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51DDDB"/>
                </a:solidFill>
                <a:latin typeface="Aptos"/>
              </a:defRPr>
            </a:pPr>
            <a:r>
              <a:t>GAMIFICATION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5641848"/>
            <a:ext cx="5742432" cy="731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5F8FF"/>
                </a:solidFill>
                <a:latin typeface="Aptos"/>
              </a:defRPr>
            </a:pPr>
            <a:r>
              <a:t>XP, points, levels, streaks, achievement badges, and global / regional / classroom leaderboards.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3108960" cy="3108960"/>
          </a:xfrm>
          <a:prstGeom prst="ellipse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94960"/>
            <a:ext cx="2468880" cy="2468880"/>
          </a:xfrm>
          <a:prstGeom prst="ellipse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051560" cy="50292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DB9D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5F8FF"/>
                </a:solidFill>
                <a:latin typeface="Aptos"/>
              </a:defRPr>
            </a:pPr>
            <a:r>
              <a:t>09  |  Deployment &amp;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115568"/>
            <a:ext cx="106070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9D3"/>
                </a:solidFill>
                <a:latin typeface="Aptos"/>
              </a:defRPr>
            </a:pPr>
            <a:r>
              <a:t>Development uses separate React and Express ports; sharing mode serves the built SPA and proxies all traffic through one tunnel.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3383280" cy="182880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54864" cy="1517904"/>
          </a:xfrm>
          <a:prstGeom prst="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856232"/>
            <a:ext cx="3017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9978FF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258568"/>
            <a:ext cx="2999232" cy="1170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React dev server :3000 calls Express :5000 directly.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383280" cy="182880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47088"/>
            <a:ext cx="54864" cy="1517904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856232"/>
            <a:ext cx="3017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AD5C"/>
                </a:solidFill>
                <a:latin typeface="Aptos"/>
              </a:defRPr>
            </a:pPr>
            <a:r>
              <a:t>SHARING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258568"/>
            <a:ext cx="2999232" cy="1170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React build served by dev-server.js :5501; /api, uploads, and WebSocket traffic proxy to backend.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91640"/>
            <a:ext cx="3383280" cy="1828800"/>
          </a:xfrm>
          <a:prstGeom prst="roundRect">
            <a:avLst/>
          </a:prstGeom>
          <a:solidFill>
            <a:srgbClr val="192036"/>
          </a:solidFill>
          <a:ln w="12700">
            <a:solidFill>
              <a:srgbClr val="435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847088"/>
            <a:ext cx="54864" cy="1517904"/>
          </a:xfrm>
          <a:prstGeom prst="rect">
            <a:avLst/>
          </a:prstGeom>
          <a:solidFill>
            <a:srgbClr val="51D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856232"/>
            <a:ext cx="301752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51DDDB"/>
                </a:solidFill>
                <a:latin typeface="Aptos"/>
              </a:defRPr>
            </a:pPr>
            <a:r>
              <a:t>ONE-CLICK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58568"/>
            <a:ext cx="2999232" cy="11704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t>start-share.bat launches the proxy and opens the Ngrok tunnel.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102412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t>QuizCraft combines AI-assisted assessment, classroom management, collaboration, and gamified progress.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4892040"/>
            <a:ext cx="4023360" cy="329184"/>
          </a:xfrm>
          <a:prstGeom prst="roundRect">
            <a:avLst/>
          </a:prstGeom>
          <a:solidFill>
            <a:srgbClr val="99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1222"/>
                </a:solidFill>
                <a:latin typeface="Aptos"/>
              </a:defRPr>
            </a:pPr>
            <a:r>
              <a:t>REACT • EXPRESS • MONGODB • OLLAMA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DB9D3"/>
                </a:solidFill>
                <a:latin typeface="Aptos"/>
              </a:defRPr>
            </a:pPr>
            <a:r>
              <a:t>Architecture overview based on QuizCraft documentation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