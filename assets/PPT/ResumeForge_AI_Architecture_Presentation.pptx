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1A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438912"/>
            <a:ext cx="594360" cy="502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868680"/>
            <a:ext cx="1554480" cy="347472"/>
          </a:xfrm>
          <a:prstGeom prst="round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48132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C172B"/>
                </a:solidFill>
                <a:latin typeface="Aptos"/>
              </a:rPr>
              <a:t>PROJECT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786384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ResumeForge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52928"/>
            <a:ext cx="71323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9DF5D8"/>
                </a:solidFill>
                <a:latin typeface="Aptos"/>
              </a:rPr>
              <a:t>AI-powered ATS resume builder
&amp; job-match 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069080"/>
            <a:ext cx="6309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B5C5D7"/>
                </a:solidFill>
                <a:latin typeface="Aptos"/>
              </a:rPr>
              <a:t>A browser-first experience for creating, refining,
and reviewing resumes against target roles.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63040"/>
            <a:ext cx="297180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39912" y="1645920"/>
            <a:ext cx="54864" cy="777240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1664208"/>
            <a:ext cx="2468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2121408"/>
            <a:ext cx="24688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Guided 6-step resume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788920"/>
            <a:ext cx="297180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39912" y="2971800"/>
            <a:ext cx="54864" cy="777240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990088"/>
            <a:ext cx="2468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3447287"/>
            <a:ext cx="24688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Job-specific match insights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4114800"/>
            <a:ext cx="297180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39912" y="4297680"/>
            <a:ext cx="54864" cy="777240"/>
          </a:xfrm>
          <a:prstGeom prst="rect">
            <a:avLst/>
          </a:prstGeom>
          <a:solidFill>
            <a:srgbClr val="FF7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4315968"/>
            <a:ext cx="2468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4773168"/>
            <a:ext cx="24688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PDF &amp; JPEG from the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1996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ARCHITECTURE • PRODUCT WORKFLOW • TECHNOLOGY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1A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438912"/>
            <a:ext cx="594360" cy="502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9BEAA"/>
                </a:solidFill>
                <a:latin typeface="Aptos"/>
              </a:rPr>
              <a:t>01 / PRODUCT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One product, two resume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Designed to support both resume creation from scratch and job-specific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5257800" cy="246888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2697480"/>
            <a:ext cx="54864" cy="2103120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715768"/>
            <a:ext cx="4754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01  BUILD A NEW RESUME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172968"/>
            <a:ext cx="4754880" cy="1719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B5C5D7"/>
                </a:solidFill>
                <a:latin typeface="Aptos"/>
              </a:rPr>
              <a:t>Six guided steps for personal details, work, education, skills/projects, credentials, and AI optimization.
Live preview • 8 templates • PDF/JPEG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514600"/>
            <a:ext cx="5257800" cy="246888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97480"/>
            <a:ext cx="54864" cy="2103120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715768"/>
            <a:ext cx="4754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02  REVIEW AN EXISTING RESUME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72968"/>
            <a:ext cx="4754880" cy="1719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B5C5D7"/>
                </a:solidFill>
                <a:latin typeface="Aptos"/>
              </a:rPr>
              <a:t>Upload PDF, DOCX, or TXT—or paste text. Edit the extracted draft, compare it with a target role/job description, then review match estimates and suggestions.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9DF5D8"/>
                </a:solidFill>
                <a:latin typeface="Aptos"/>
              </a:rPr>
              <a:t>The app is a React single-page application hosted on Netlify.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1A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438912"/>
            <a:ext cx="594360" cy="502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9BEAA"/>
                </a:solidFill>
                <a:latin typeface="Aptos"/>
              </a:rPr>
              <a:t>02 / BUILDER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A guided path from profile to polished 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Validation, AI-assisted rewriting, templates, and export stay in one browser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43200"/>
            <a:ext cx="1627632" cy="1188720"/>
          </a:xfrm>
          <a:prstGeom prst="roundRect">
            <a:avLst/>
          </a:prstGeom>
          <a:solidFill>
            <a:srgbClr val="142641"/>
          </a:solidFill>
          <a:ln>
            <a:solidFill>
              <a:srgbClr val="2F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907792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9BEAA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337560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Personal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59152" y="3337560"/>
            <a:ext cx="210311" cy="0"/>
          </a:xfrm>
          <a:prstGeom prst="line">
            <a:avLst/>
          </a:prstGeom>
          <a:ln w="190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15184" y="2743200"/>
            <a:ext cx="1627632" cy="1188720"/>
          </a:xfrm>
          <a:prstGeom prst="roundRect">
            <a:avLst/>
          </a:prstGeom>
          <a:solidFill>
            <a:srgbClr val="142641"/>
          </a:solidFill>
          <a:ln>
            <a:solidFill>
              <a:srgbClr val="2F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2907792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9BEAA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3337560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61104" y="3337560"/>
            <a:ext cx="210312" cy="0"/>
          </a:xfrm>
          <a:prstGeom prst="line">
            <a:avLst/>
          </a:prstGeom>
          <a:ln w="190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17136" y="2743200"/>
            <a:ext cx="1627632" cy="1188720"/>
          </a:xfrm>
          <a:prstGeom prst="roundRect">
            <a:avLst/>
          </a:prstGeom>
          <a:solidFill>
            <a:srgbClr val="142641"/>
          </a:solidFill>
          <a:ln>
            <a:solidFill>
              <a:srgbClr val="2F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907792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9BEAA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337560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Education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63056" y="3337560"/>
            <a:ext cx="210312" cy="0"/>
          </a:xfrm>
          <a:prstGeom prst="line">
            <a:avLst/>
          </a:prstGeom>
          <a:ln w="190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19088" y="2743200"/>
            <a:ext cx="1627632" cy="1188720"/>
          </a:xfrm>
          <a:prstGeom prst="roundRect">
            <a:avLst/>
          </a:prstGeom>
          <a:solidFill>
            <a:srgbClr val="142641"/>
          </a:solidFill>
          <a:ln>
            <a:solidFill>
              <a:srgbClr val="2F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907792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9BEAA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Skills &amp; projects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65008" y="3337560"/>
            <a:ext cx="210312" cy="0"/>
          </a:xfrm>
          <a:prstGeom prst="line">
            <a:avLst/>
          </a:prstGeom>
          <a:ln w="190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21040" y="2743200"/>
            <a:ext cx="1627632" cy="1188720"/>
          </a:xfrm>
          <a:prstGeom prst="roundRect">
            <a:avLst/>
          </a:prstGeom>
          <a:solidFill>
            <a:srgbClr val="142641"/>
          </a:solidFill>
          <a:ln>
            <a:solidFill>
              <a:srgbClr val="2F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2907792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9BEAA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337560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Credentials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966960" y="3337560"/>
            <a:ext cx="210312" cy="0"/>
          </a:xfrm>
          <a:prstGeom prst="line">
            <a:avLst/>
          </a:prstGeom>
          <a:ln w="1905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222992" y="2743200"/>
            <a:ext cx="1627632" cy="1188720"/>
          </a:xfrm>
          <a:prstGeom prst="roundRect">
            <a:avLst/>
          </a:prstGeom>
          <a:solidFill>
            <a:srgbClr val="142641"/>
          </a:solidFill>
          <a:ln>
            <a:solidFill>
              <a:srgbClr val="2F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96144" y="2907792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9BEAA"/>
                </a:solidFill>
                <a:latin typeface="Apto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144" y="3337560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Optimize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389120"/>
            <a:ext cx="342900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1832" y="4572000"/>
            <a:ext cx="54864" cy="777240"/>
          </a:xfrm>
          <a:prstGeom prst="rect">
            <a:avLst/>
          </a:prstGeom>
          <a:solidFill>
            <a:srgbClr val="58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" y="459028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" y="5047488"/>
            <a:ext cx="2926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Check each completed step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389120"/>
            <a:ext cx="342900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53712" y="4572000"/>
            <a:ext cx="54864" cy="777240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36592" y="459028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PREVIEW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5047488"/>
            <a:ext cx="2926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Edit and switch templates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4389120"/>
            <a:ext cx="342900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65592" y="4572000"/>
            <a:ext cx="54864" cy="777240"/>
          </a:xfrm>
          <a:prstGeom prst="rect">
            <a:avLst/>
          </a:prstGeom>
          <a:solidFill>
            <a:srgbClr val="FF7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48472" y="459028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EXPORT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2" y="5047488"/>
            <a:ext cx="29260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Generate PDF or JPEG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1A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438912"/>
            <a:ext cx="594360" cy="502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9BEAA"/>
                </a:solidFill>
                <a:latin typeface="Aptos"/>
              </a:rPr>
              <a:t>03 / EXISTING RESUME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Turn an uploaded resume into actionable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The source resume remains user-editable; the AI workflow returns suggestions rather than replacing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2487168" cy="1874519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971800"/>
            <a:ext cx="54864" cy="1508760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990088"/>
            <a:ext cx="19842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01  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447287"/>
            <a:ext cx="1984248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5C5D7"/>
                </a:solidFill>
                <a:latin typeface="Aptos"/>
              </a:rPr>
              <a:t>PDF.js • Mammoth • File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55263" y="3703320"/>
            <a:ext cx="283465" cy="0"/>
          </a:xfrm>
          <a:prstGeom prst="line">
            <a:avLst/>
          </a:prstGeom>
          <a:ln w="2032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11880" y="2788920"/>
            <a:ext cx="2487168" cy="1874519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76472" y="2971800"/>
            <a:ext cx="54864" cy="1508760"/>
          </a:xfrm>
          <a:prstGeom prst="rect">
            <a:avLst/>
          </a:prstGeom>
          <a:solidFill>
            <a:srgbClr val="58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990088"/>
            <a:ext cx="19842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02  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9352" y="3447287"/>
            <a:ext cx="1984248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5C5D7"/>
                </a:solidFill>
                <a:latin typeface="Aptos"/>
              </a:rPr>
              <a:t>Extracted text in page memory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35624" y="3703320"/>
            <a:ext cx="283464" cy="0"/>
          </a:xfrm>
          <a:prstGeom prst="line">
            <a:avLst/>
          </a:prstGeom>
          <a:ln w="2032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92240" y="2788920"/>
            <a:ext cx="2487168" cy="1874519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56831" y="2971800"/>
            <a:ext cx="54864" cy="1508760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2990088"/>
            <a:ext cx="19842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03  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3447287"/>
            <a:ext cx="1984248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5C5D7"/>
                </a:solidFill>
                <a:latin typeface="Aptos"/>
              </a:rPr>
              <a:t>Target role + job description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15984" y="3703320"/>
            <a:ext cx="283464" cy="0"/>
          </a:xfrm>
          <a:prstGeom prst="line">
            <a:avLst/>
          </a:prstGeom>
          <a:ln w="2032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372600" y="2788920"/>
            <a:ext cx="2487168" cy="1874519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37192" y="2971800"/>
            <a:ext cx="54864" cy="1508760"/>
          </a:xfrm>
          <a:prstGeom prst="rect">
            <a:avLst/>
          </a:prstGeom>
          <a:solidFill>
            <a:srgbClr val="FF7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20072" y="2990088"/>
            <a:ext cx="19842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04  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72" y="3447287"/>
            <a:ext cx="1984248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5C5D7"/>
                </a:solidFill>
                <a:latin typeface="Aptos"/>
              </a:rPr>
              <a:t>Match estimate • keywords • suggestions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Supported inputs: text-based PDF, DOCX, and TXT. Scanned/image-only PDFs currently need OCR, which is not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1A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438912"/>
            <a:ext cx="594360" cy="502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9BEAA"/>
                </a:solidFill>
                <a:latin typeface="Aptos"/>
              </a:rPr>
              <a:t>04 /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A browser-first app with a serverless AI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Netlify serves the static SPA and routes same-origin POST requests to Node.js functions.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2240280" cy="20574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1" y="2697480"/>
            <a:ext cx="54864" cy="1691640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15768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USER /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172968"/>
            <a:ext cx="1737360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Job seeker
React SPA
Builder +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514600"/>
            <a:ext cx="2240280" cy="20574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2697480"/>
            <a:ext cx="54864" cy="1691640"/>
          </a:xfrm>
          <a:prstGeom prst="rect">
            <a:avLst/>
          </a:prstGeom>
          <a:solidFill>
            <a:srgbClr val="58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2715768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CLIENT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172968"/>
            <a:ext cx="1737360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Validation
Preview + templates
Session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514600"/>
            <a:ext cx="2423160" cy="20574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1" y="2697480"/>
            <a:ext cx="54864" cy="1691640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715768"/>
            <a:ext cx="19202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NETLIFY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172968"/>
            <a:ext cx="1920239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HTTPS + static dist
Serverless functions
Input checks + rate limit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514600"/>
            <a:ext cx="2514600" cy="20574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9992" y="2697480"/>
            <a:ext cx="54864" cy="1691640"/>
          </a:xfrm>
          <a:prstGeom prst="rect">
            <a:avLst/>
          </a:prstGeom>
          <a:solidFill>
            <a:srgbClr val="FF7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2715768"/>
            <a:ext cx="2011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OPENROUTER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172968"/>
            <a:ext cx="2011680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External AI provider
Server-side API key
Model response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07792" y="3474720"/>
            <a:ext cx="365760" cy="0"/>
          </a:xfrm>
          <a:prstGeom prst="line">
            <a:avLst/>
          </a:prstGeom>
          <a:ln w="2540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05272" y="3474720"/>
            <a:ext cx="365760" cy="0"/>
          </a:xfrm>
          <a:prstGeom prst="line">
            <a:avLst/>
          </a:prstGeom>
          <a:ln w="2540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03920" y="3474720"/>
            <a:ext cx="347472" cy="0"/>
          </a:xfrm>
          <a:prstGeom prst="line">
            <a:avLst/>
          </a:prstGeom>
          <a:ln w="25400">
            <a:solidFill>
              <a:srgbClr val="19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5074920"/>
            <a:ext cx="106070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9DF5D8"/>
                </a:solidFill>
                <a:latin typeface="Aptos"/>
              </a:rPr>
              <a:t>AI results return as normalized JSON. Resume content is sent to the provider only when the user requests AI generation or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1A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438912"/>
            <a:ext cx="594360" cy="502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9BEAA"/>
                </a:solidFill>
                <a:latin typeface="Aptos"/>
              </a:rPr>
              <a:t>05 / AI REQUEST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Validate first. Call the provider through a shared helper.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Active functions normalize the model output before returning it to the 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23160"/>
            <a:ext cx="3429000" cy="129844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2606040"/>
            <a:ext cx="54864" cy="9326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62432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01  User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081528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Optimize builder or review existing resume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4" y="2423160"/>
            <a:ext cx="3429000" cy="129844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0016" y="2606040"/>
            <a:ext cx="54864" cy="932688"/>
          </a:xfrm>
          <a:prstGeom prst="rect">
            <a:avLst/>
          </a:prstGeom>
          <a:solidFill>
            <a:srgbClr val="58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6" y="262432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02  Same-origin 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3081528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Send bounded resume and role/JD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2423160"/>
            <a:ext cx="3429000" cy="129844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22207" y="2606040"/>
            <a:ext cx="54864" cy="932688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262432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03  Validate +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3081528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Check input sizes and apply soft rate limit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069080"/>
            <a:ext cx="3429000" cy="129844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" y="4251960"/>
            <a:ext cx="54864" cy="932688"/>
          </a:xfrm>
          <a:prstGeom prst="rect">
            <a:avLst/>
          </a:prstGeom>
          <a:solidFill>
            <a:srgbClr val="FF7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27024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04  OpenRouter helper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727448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Use server environment key/model; 30s timeout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5424" y="4069080"/>
            <a:ext cx="3429000" cy="129844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0016" y="4251960"/>
            <a:ext cx="54864" cy="9326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427024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05  Normalize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2896" y="4727448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Parse response, validate, merge or format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7615" y="4069080"/>
            <a:ext cx="3429000" cy="129844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22207" y="4251960"/>
            <a:ext cx="54864" cy="932688"/>
          </a:xfrm>
          <a:prstGeom prst="rect">
            <a:avLst/>
          </a:prstGeom>
          <a:solidFill>
            <a:srgbClr val="58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05088" y="427024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06  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8" y="4727448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Show preview, score estimate, keywords and suggestions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1A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438912"/>
            <a:ext cx="594360" cy="502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9BEAA"/>
                </a:solidFill>
                <a:latin typeface="Aptos"/>
              </a:rPr>
              <a:t>06 /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A focused stack for UI, serverless AI, and document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Declared project dependencies and platform services from the handoff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5212080" cy="987552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514600"/>
            <a:ext cx="54864" cy="6217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532888"/>
            <a:ext cx="4709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UI &amp; bundling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90087"/>
            <a:ext cx="4709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React 19 • React DOM 19 • Vite 8
SPA rendering and production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331720"/>
            <a:ext cx="5212080" cy="987552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9672" y="2514600"/>
            <a:ext cx="54864" cy="621792"/>
          </a:xfrm>
          <a:prstGeom prst="rect">
            <a:avLst/>
          </a:prstGeom>
          <a:solidFill>
            <a:srgbClr val="58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532888"/>
            <a:ext cx="4709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Hosting &amp;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2990087"/>
            <a:ext cx="4709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Netlify Functions • Node.js
Same-origin serverless 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38728"/>
            <a:ext cx="5212080" cy="987552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" y="3721608"/>
            <a:ext cx="54864" cy="621792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739896"/>
            <a:ext cx="4709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AI provider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4709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OpenRouter • server environment config
Model selected via OPENROUTER_MODEL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538728"/>
            <a:ext cx="5212080" cy="987552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19672" y="3721608"/>
            <a:ext cx="54864" cy="621792"/>
          </a:xfrm>
          <a:prstGeom prst="rect">
            <a:avLst/>
          </a:prstGeom>
          <a:solidFill>
            <a:srgbClr val="FF7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3739896"/>
            <a:ext cx="4709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Document parsing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4197096"/>
            <a:ext cx="4709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PDF.js • Mammoth • Browser File API
Extract text from PDF, DOCX, and TXT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45736"/>
            <a:ext cx="5212080" cy="987552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" y="4928616"/>
            <a:ext cx="54864" cy="6217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946903"/>
            <a:ext cx="4709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Export &amp; visuals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404103"/>
            <a:ext cx="4709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jsPDF • html2canvas • lucide-react
PDF/JPEG export and interface icons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745736"/>
            <a:ext cx="5212080" cy="987552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19672" y="4928616"/>
            <a:ext cx="54864" cy="621792"/>
          </a:xfrm>
          <a:prstGeom prst="rect">
            <a:avLst/>
          </a:prstGeom>
          <a:solidFill>
            <a:srgbClr val="58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4946903"/>
            <a:ext cx="4709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State &amp; styling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5404103"/>
            <a:ext cx="4709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sessionStorage • CryptoJS • custom CSS
Session draft handling and responsive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1A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438912"/>
            <a:ext cx="594360" cy="502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9BEAA"/>
                </a:solidFill>
                <a:latin typeface="Aptos"/>
              </a:rPr>
              <a:t>07 / DATA &amp; PRIVACY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No account system. No app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Data handling is split between browser-held drafts and explicit AI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23160"/>
            <a:ext cx="3456432" cy="224028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2606040"/>
            <a:ext cx="54864" cy="1874520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624328"/>
            <a:ext cx="295351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BUILDER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081528"/>
            <a:ext cx="2953511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Stored in sessionStorage with client-side AES encoding.
The key is embedded in client code, so this is not strong protection against a determined attacker.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423160"/>
            <a:ext cx="3456432" cy="224028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2606040"/>
            <a:ext cx="54864" cy="1874520"/>
          </a:xfrm>
          <a:prstGeom prst="rect">
            <a:avLst/>
          </a:prstGeom>
          <a:solidFill>
            <a:srgbClr val="58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624328"/>
            <a:ext cx="295351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REVIEW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3081528"/>
            <a:ext cx="2953511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Uploaded file text is parsed in the browser and held in React page memory.
This review workflow does not write the draft to session storage.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423160"/>
            <a:ext cx="3456432" cy="224028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2606040"/>
            <a:ext cx="54864" cy="1874520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624328"/>
            <a:ext cx="295351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AI PROVIDER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081528"/>
            <a:ext cx="2953511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Relevant resume text and optional job description are sent to OpenRouter when analysis is requested.
Provider handling follows selected model/provider policies.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Session behavior: ephemeral browser session ID; temporary builder data clears after 15 minutes of inactivity when resume data exists.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1A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438912"/>
            <a:ext cx="594360" cy="502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9BEAA"/>
                </a:solidFill>
                <a:latin typeface="Aptos"/>
              </a:rPr>
              <a:t>08 / API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Three active AI endpoints support the current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All routes are same-origin JSON POSTs under /.netlify/functions/.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10561320" cy="84124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514600"/>
            <a:ext cx="54864" cy="475488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532888"/>
            <a:ext cx="10058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generate-ai-content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990087"/>
            <a:ext cx="10058400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Builder final Optimize step
Summary, rewritten sections, keywords, ATS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79"/>
            <a:ext cx="10561320" cy="84124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1832" y="3566160"/>
            <a:ext cx="54864" cy="475488"/>
          </a:xfrm>
          <a:prstGeom prst="rect">
            <a:avLst/>
          </a:prstGeom>
          <a:solidFill>
            <a:srgbClr val="58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584448"/>
            <a:ext cx="10058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optimize-work-experience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041648"/>
            <a:ext cx="10058400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Work-step rewrite action
Rewrites supplied experience details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434840"/>
            <a:ext cx="10561320" cy="84124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" y="4617720"/>
            <a:ext cx="54864" cy="475488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4636007"/>
            <a:ext cx="10058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analyze-existing-resume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5093207"/>
            <a:ext cx="10058400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B5C5D7"/>
                </a:solidFill>
                <a:latin typeface="Aptos"/>
              </a:rPr>
              <a:t>Existing Resume Review
Match estimate, keyword gaps, strengths, suggestions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10424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9DF5D8"/>
                </a:solidFill>
                <a:latin typeface="Aptos"/>
              </a:rPr>
              <a:t>Safeguards: input validation, bounded request sizes, server-only API key, and a soft 10 requests/minute per function runtime instance.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B5C5D7"/>
                </a:solidFill>
                <a:latin typeface="Aptos"/>
              </a:rPr>
              <a:t>Legacy optimize-resume endpoint has no current frontend caller.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1A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438912"/>
            <a:ext cx="594360" cy="50292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9BEAA"/>
                </a:solidFill>
                <a:latin typeface="Aptos"/>
              </a:rPr>
              <a:t>09 / DEPLOYMENT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A clear foundation—with practical limitations to address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5C5D7"/>
                </a:solidFill>
                <a:latin typeface="Aptos"/>
              </a:rPr>
              <a:t>Build and deploy on Netlify, then improve resilience and document support deliberately.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5C5D7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31720"/>
            <a:ext cx="3456432" cy="196596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2514600"/>
            <a:ext cx="54864" cy="1600200"/>
          </a:xfrm>
          <a:prstGeom prst="rect">
            <a:avLst/>
          </a:prstGeom>
          <a:solidFill>
            <a:srgbClr val="19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532888"/>
            <a:ext cx="295351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990087"/>
            <a:ext cx="2953511" cy="12161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Build: npm run build
Publish: dist
Functions: netlify/functions
Required env: OPENROUTER_API_KEY, OPENROUTER_MODEL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331720"/>
            <a:ext cx="3456432" cy="196596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2514600"/>
            <a:ext cx="54864" cy="1600200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532888"/>
            <a:ext cx="295351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CURRENT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990087"/>
            <a:ext cx="2953511" cy="12161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ATS/match scores are estimates, not guarantees.
Scanned PDFs need OCR.
Rate limiting is per runtime instance.
Exports contain personal information and are not encrypted.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331720"/>
            <a:ext cx="3456432" cy="196596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2514600"/>
            <a:ext cx="54864" cy="1600200"/>
          </a:xfrm>
          <a:prstGeom prst="rect">
            <a:avLst/>
          </a:prstGeom>
          <a:solidFill>
            <a:srgbClr val="FF7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532888"/>
            <a:ext cx="295351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990087"/>
            <a:ext cx="2953511" cy="12161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5C5D7"/>
                </a:solidFill>
                <a:latin typeface="Aptos"/>
              </a:rPr>
              <a:t>Consider OCR support.
Review rate-limit strategy for global quotas.
Audit dependency updates deliberately.
Keep generated edits grounded in source facts.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00600"/>
            <a:ext cx="103327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9DF5D8"/>
                </a:solidFill>
                <a:latin typeface="Aptos"/>
              </a:rPr>
              <a:t>ResumeForge AI combines guided resume creation, editable templates, client-side document parsing, and job-specific AI review—without pretending to be a persistent account-based platform.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B5C5D7"/>
                </a:solidFill>
                <a:latin typeface="Aptos"/>
              </a:rPr>
              <a:t>Source: ResumeForge AI Architecture and Project Handoff (provided Markdown).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