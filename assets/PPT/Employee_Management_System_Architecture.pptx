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27080" y="228600"/>
            <a:ext cx="502920" cy="502920"/>
          </a:xfrm>
          <a:prstGeom prst="ellipse">
            <a:avLst/>
          </a:prstGeom>
          <a:solidFill>
            <a:srgbClr val="213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84280" y="658368"/>
            <a:ext cx="228600" cy="228600"/>
          </a:xfrm>
          <a:prstGeom prst="ellipse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868680"/>
            <a:ext cx="164592" cy="164592"/>
          </a:xfrm>
          <a:prstGeom prst="ellipse">
            <a:avLst/>
          </a:prstGeom>
          <a:solidFill>
            <a:srgbClr val="E0B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7C6BB"/>
                </a:solidFill>
                <a:latin typeface="Aptos"/>
              </a:defRPr>
            </a:pPr>
            <a:r>
              <a:t>EMPLOYEE MANAGEMENT SYSTEM  •  ARCHITECTURE &amp; WORKFLOW                                      01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51560"/>
            <a:ext cx="7955279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E0BE77"/>
                </a:solidFill>
                <a:latin typeface="Aptos"/>
              </a:defRPr>
            </a:pPr>
            <a:r>
              <a:t>SYSTEM DESIGN • TECHNICAL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45920"/>
            <a:ext cx="8503920" cy="1371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3600" b="1">
                <a:solidFill>
                  <a:srgbClr val="F5F7F1"/>
                </a:solidFill>
                <a:latin typeface="Aptos"/>
              </a:defRPr>
            </a:pPr>
            <a:r>
              <a:t>Employee Management</a:t>
            </a:r>
          </a:p>
          <a:p>
            <a:pPr>
              <a:spcAft>
                <a:spcPts val="700"/>
              </a:spcAft>
              <a:defRPr sz="3600" b="1">
                <a:solidFill>
                  <a:srgbClr val="F5F7F1"/>
                </a:solidFill>
                <a:latin typeface="Aptos"/>
              </a:defRPr>
            </a:pPr>
            <a:r>
              <a:t>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246120"/>
            <a:ext cx="768096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8BD6AE"/>
                </a:solidFill>
                <a:latin typeface="Aptos"/>
              </a:defRPr>
            </a:pPr>
            <a:r>
              <a:t>System Architecture &amp; Technical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704088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B7C6BB"/>
                </a:solidFill>
                <a:latin typeface="Aptos"/>
              </a:defRPr>
            </a:pPr>
            <a:r>
              <a:t>A multi-tenant web application with stateless JWT security,</a:t>
            </a:r>
          </a:p>
          <a:p>
            <a:pPr>
              <a:spcAft>
                <a:spcPts val="700"/>
              </a:spcAft>
              <a:defRPr sz="1600" b="0">
                <a:solidFill>
                  <a:srgbClr val="B7C6BB"/>
                </a:solidFill>
                <a:latin typeface="Aptos"/>
              </a:defRPr>
            </a:pPr>
            <a:r>
              <a:t>company-level data isolation, and MySQL persistence.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1828800"/>
            <a:ext cx="2377440" cy="82296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41080" y="1938528"/>
            <a:ext cx="50292" cy="603504"/>
          </a:xfrm>
          <a:prstGeom prst="rect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59" y="1975104"/>
            <a:ext cx="20574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8BD6AE"/>
                </a:solidFill>
                <a:latin typeface="Aptos"/>
              </a:defRPr>
            </a:pPr>
            <a:r>
              <a:t>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59" y="2395728"/>
            <a:ext cx="20574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F5F7F1"/>
                </a:solidFill>
                <a:latin typeface="Aptos"/>
              </a:defRPr>
            </a:pPr>
            <a:r>
              <a:t>HTML • CSS • JavaScript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2880360"/>
            <a:ext cx="2377440" cy="82296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41080" y="2990088"/>
            <a:ext cx="50292" cy="603504"/>
          </a:xfrm>
          <a:prstGeom prst="rect">
            <a:avLst/>
          </a:prstGeom>
          <a:solidFill>
            <a:srgbClr val="E0B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59" y="3026664"/>
            <a:ext cx="20574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E0BE77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59" y="3447288"/>
            <a:ext cx="20574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F5F7F1"/>
                </a:solidFill>
                <a:latin typeface="Aptos"/>
              </a:defRPr>
            </a:pPr>
            <a:r>
              <a:t>Spring Boot • REST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3931920"/>
            <a:ext cx="2377440" cy="82296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41080" y="4041648"/>
            <a:ext cx="50292" cy="603504"/>
          </a:xfrm>
          <a:prstGeom prst="rect">
            <a:avLst/>
          </a:prstGeom>
          <a:solidFill>
            <a:srgbClr val="81B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59" y="4078224"/>
            <a:ext cx="20574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81B8DB"/>
                </a:solidFill>
                <a:latin typeface="Aptos"/>
              </a:defRPr>
            </a:pPr>
            <a:r>
              <a:t>PERSISTENCE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59" y="4498848"/>
            <a:ext cx="20574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F5F7F1"/>
                </a:solidFill>
                <a:latin typeface="Aptos"/>
              </a:defRPr>
            </a:pPr>
            <a:r>
              <a:t>JPA • Hibernate • MySQL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829800" y="2651760"/>
            <a:ext cx="0" cy="201168"/>
          </a:xfrm>
          <a:prstGeom prst="line">
            <a:avLst/>
          </a:prstGeom>
          <a:ln w="25400">
            <a:solidFill>
              <a:srgbClr val="8BD6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829800" y="3703320"/>
            <a:ext cx="0" cy="201167"/>
          </a:xfrm>
          <a:prstGeom prst="line">
            <a:avLst/>
          </a:prstGeom>
          <a:ln w="25400">
            <a:solidFill>
              <a:srgbClr val="8BD6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2960" y="5669280"/>
            <a:ext cx="6858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7C6BB"/>
                </a:solidFill>
                <a:latin typeface="Aptos"/>
              </a:defRPr>
            </a:pPr>
            <a:r>
              <a:t>Built for clear separation of concerns and safer tenant-scoped access.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27080" y="228600"/>
            <a:ext cx="502920" cy="502920"/>
          </a:xfrm>
          <a:prstGeom prst="ellipse">
            <a:avLst/>
          </a:prstGeom>
          <a:solidFill>
            <a:srgbClr val="213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84280" y="658368"/>
            <a:ext cx="228600" cy="228600"/>
          </a:xfrm>
          <a:prstGeom prst="ellipse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868680"/>
            <a:ext cx="164592" cy="164592"/>
          </a:xfrm>
          <a:prstGeom prst="ellipse">
            <a:avLst/>
          </a:prstGeom>
          <a:solidFill>
            <a:srgbClr val="E0B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7C6BB"/>
                </a:solidFill>
                <a:latin typeface="Aptos"/>
              </a:defRPr>
            </a:pPr>
            <a:r>
              <a:t>EMPLOYEE MANAGEMENT SYSTEM  •  ARCHITECTURE &amp; WORKFLOW                                      02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8BD6AE"/>
                </a:solidFill>
                <a:latin typeface="Aptos"/>
              </a:defRPr>
            </a:pPr>
            <a:r>
              <a:t>01  |  High-Level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32688"/>
            <a:ext cx="106984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7C6BB"/>
                </a:solidFill>
                <a:latin typeface="Aptos"/>
              </a:defRPr>
            </a:pPr>
            <a:r>
              <a:t>A three-tier application connected through a unified development proxy.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00200"/>
            <a:ext cx="2057400" cy="132588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709928"/>
            <a:ext cx="50292" cy="1106424"/>
          </a:xfrm>
          <a:prstGeom prst="rect">
            <a:avLst/>
          </a:prstGeom>
          <a:solidFill>
            <a:srgbClr val="81B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46504"/>
            <a:ext cx="1737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81B8DB"/>
                </a:solidFill>
                <a:latin typeface="Aptos"/>
              </a:defRPr>
            </a:pPr>
            <a:r>
              <a:t>CLIENTS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737360" cy="6675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7F1"/>
                </a:solidFill>
                <a:latin typeface="Aptos"/>
              </a:defRPr>
            </a:pPr>
            <a:r>
              <a:t>Mobile browser</a:t>
            </a:r>
          </a:p>
          <a:p>
            <a:pPr>
              <a:spcAft>
                <a:spcPts val="700"/>
              </a:spcAft>
              <a:defRPr sz="1300" b="0">
                <a:solidFill>
                  <a:srgbClr val="F5F7F1"/>
                </a:solidFill>
                <a:latin typeface="Aptos"/>
              </a:defRPr>
            </a:pPr>
            <a:r>
              <a:t>External desktop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1600200"/>
            <a:ext cx="2194560" cy="132588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80360" y="1709928"/>
            <a:ext cx="50292" cy="1106424"/>
          </a:xfrm>
          <a:prstGeom prst="rect">
            <a:avLst/>
          </a:prstGeom>
          <a:solidFill>
            <a:srgbClr val="E0B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1746504"/>
            <a:ext cx="1874519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E0BE77"/>
                </a:solidFill>
                <a:latin typeface="Aptos"/>
              </a:defRPr>
            </a:pPr>
            <a:r>
              <a:t>EDGE / INGRESS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167128"/>
            <a:ext cx="1874519" cy="6675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7F1"/>
                </a:solidFill>
                <a:latin typeface="Aptos"/>
              </a:defRPr>
            </a:pPr>
            <a:r>
              <a:t>Ngrok HTTPS tunnel</a:t>
            </a:r>
          </a:p>
          <a:p>
            <a:pPr>
              <a:spcAft>
                <a:spcPts val="700"/>
              </a:spcAft>
              <a:defRPr sz="1300" b="0">
                <a:solidFill>
                  <a:srgbClr val="F5F7F1"/>
                </a:solidFill>
                <a:latin typeface="Aptos"/>
              </a:defRPr>
            </a:pPr>
            <a:r>
              <a:t>Node.js proxy :5501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49240" y="1600200"/>
            <a:ext cx="2240280" cy="132588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49240" y="1709928"/>
            <a:ext cx="50292" cy="1106424"/>
          </a:xfrm>
          <a:prstGeom prst="rect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32120" y="1746504"/>
            <a:ext cx="19202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8BD6AE"/>
                </a:solidFill>
                <a:latin typeface="Aptos"/>
              </a:defRPr>
            </a:pPr>
            <a:r>
              <a:t>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2167128"/>
            <a:ext cx="1920240" cy="6675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7F1"/>
                </a:solidFill>
                <a:latin typeface="Aptos"/>
              </a:defRPr>
            </a:pPr>
            <a:r>
              <a:t>HTML5 • CSS3 • JS</a:t>
            </a:r>
          </a:p>
          <a:p>
            <a:pPr>
              <a:spcAft>
                <a:spcPts val="700"/>
              </a:spcAft>
              <a:defRPr sz="1300" b="0">
                <a:solidFill>
                  <a:srgbClr val="F5F7F1"/>
                </a:solidFill>
                <a:latin typeface="Aptos"/>
              </a:defRPr>
            </a:pPr>
            <a:r>
              <a:t>SweetAlert2 • localStorage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1600200"/>
            <a:ext cx="2011680" cy="132588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63840" y="1709928"/>
            <a:ext cx="50292" cy="1106424"/>
          </a:xfrm>
          <a:prstGeom prst="rect">
            <a:avLst/>
          </a:prstGeom>
          <a:solidFill>
            <a:srgbClr val="E0B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9" y="1746504"/>
            <a:ext cx="16916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E0BE77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9" y="2167128"/>
            <a:ext cx="1691640" cy="6675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Spring Security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JWT filter + REST controllers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0" y="1600200"/>
            <a:ext cx="1508760" cy="132588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709928"/>
            <a:ext cx="50292" cy="1106424"/>
          </a:xfrm>
          <a:prstGeom prst="rect">
            <a:avLst/>
          </a:prstGeom>
          <a:solidFill>
            <a:srgbClr val="81B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0" y="1746504"/>
            <a:ext cx="1188719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81B8DB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2167128"/>
            <a:ext cx="1188719" cy="6675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F5F7F1"/>
                </a:solidFill>
                <a:latin typeface="Aptos"/>
              </a:defRPr>
            </a:pPr>
            <a:r>
              <a:t>JPA / Hibernate</a:t>
            </a:r>
          </a:p>
          <a:p>
            <a:pPr>
              <a:spcAft>
                <a:spcPts val="700"/>
              </a:spcAft>
              <a:defRPr sz="1100" b="0">
                <a:solidFill>
                  <a:srgbClr val="F5F7F1"/>
                </a:solidFill>
                <a:latin typeface="Aptos"/>
              </a:defRPr>
            </a:pPr>
            <a:r>
              <a:t>MySQL 8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651760" y="2267712"/>
            <a:ext cx="228600" cy="0"/>
          </a:xfrm>
          <a:prstGeom prst="line">
            <a:avLst/>
          </a:prstGeom>
          <a:ln w="25400">
            <a:solidFill>
              <a:srgbClr val="8BD6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074920" y="2267712"/>
            <a:ext cx="274320" cy="0"/>
          </a:xfrm>
          <a:prstGeom prst="line">
            <a:avLst/>
          </a:prstGeom>
          <a:ln w="25400">
            <a:solidFill>
              <a:srgbClr val="8BD6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589520" y="2267712"/>
            <a:ext cx="274320" cy="0"/>
          </a:xfrm>
          <a:prstGeom prst="line">
            <a:avLst/>
          </a:prstGeom>
          <a:ln w="25400">
            <a:solidFill>
              <a:srgbClr val="8BD6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875520" y="2267712"/>
            <a:ext cx="182880" cy="0"/>
          </a:xfrm>
          <a:prstGeom prst="line">
            <a:avLst/>
          </a:prstGeom>
          <a:ln w="25400">
            <a:solidFill>
              <a:srgbClr val="8BD6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14400" y="3657600"/>
            <a:ext cx="3017520" cy="132588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" y="3767328"/>
            <a:ext cx="50292" cy="1106424"/>
          </a:xfrm>
          <a:prstGeom prst="rect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3803904"/>
            <a:ext cx="2697479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8BD6AE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4224528"/>
            <a:ext cx="2697479" cy="6675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7F1"/>
                </a:solidFill>
                <a:latin typeface="Aptos"/>
              </a:defRPr>
            </a:pPr>
            <a:r>
              <a:t>Register → validate → hash password</a:t>
            </a:r>
          </a:p>
          <a:p>
            <a:pPr>
              <a:spcAft>
                <a:spcPts val="700"/>
              </a:spcAft>
              <a:defRPr sz="1300" b="0">
                <a:solidFill>
                  <a:srgbClr val="F5F7F1"/>
                </a:solidFill>
                <a:latin typeface="Aptos"/>
              </a:defRPr>
            </a:pPr>
            <a:r>
              <a:t>Login → verify → issue signed JWT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3657600"/>
            <a:ext cx="3017520" cy="132588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0" y="3767328"/>
            <a:ext cx="50292" cy="1106424"/>
          </a:xfrm>
          <a:prstGeom prst="rect">
            <a:avLst/>
          </a:prstGeom>
          <a:solidFill>
            <a:srgbClr val="E0B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0" y="3803904"/>
            <a:ext cx="2697479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E0BE77"/>
                </a:solidFill>
                <a:latin typeface="Aptos"/>
              </a:defRPr>
            </a:pPr>
            <a:r>
              <a:t>EMPLOYEE WORKFLOW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4224528"/>
            <a:ext cx="2697479" cy="6675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7F1"/>
                </a:solidFill>
                <a:latin typeface="Aptos"/>
              </a:defRPr>
            </a:pPr>
            <a:r>
              <a:t>Create • Read • Update • Delete</a:t>
            </a:r>
          </a:p>
          <a:p>
            <a:pPr>
              <a:spcAft>
                <a:spcPts val="700"/>
              </a:spcAft>
              <a:defRPr sz="1300" b="0">
                <a:solidFill>
                  <a:srgbClr val="F5F7F1"/>
                </a:solidFill>
                <a:latin typeface="Aptos"/>
              </a:defRPr>
            </a:pPr>
            <a:r>
              <a:t>Search and filter by role / gender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0" y="3657600"/>
            <a:ext cx="3017520" cy="132588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29600" y="3767328"/>
            <a:ext cx="50292" cy="1106424"/>
          </a:xfrm>
          <a:prstGeom prst="rect">
            <a:avLst/>
          </a:prstGeom>
          <a:solidFill>
            <a:srgbClr val="81B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0" y="3803904"/>
            <a:ext cx="2697479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81B8DB"/>
                </a:solidFill>
                <a:latin typeface="Aptos"/>
              </a:defRPr>
            </a:pPr>
            <a:r>
              <a:t>TENANT BOUNDARY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4224528"/>
            <a:ext cx="2697479" cy="6675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7F1"/>
                </a:solidFill>
                <a:latin typeface="Aptos"/>
              </a:defRPr>
            </a:pPr>
            <a:r>
              <a:t>Resolve company from authenticated</a:t>
            </a:r>
          </a:p>
          <a:p>
            <a:pPr>
              <a:spcAft>
                <a:spcPts val="700"/>
              </a:spcAft>
              <a:defRPr sz="1300" b="0">
                <a:solidFill>
                  <a:srgbClr val="F5F7F1"/>
                </a:solidFill>
                <a:latin typeface="Aptos"/>
              </a:defRPr>
            </a:pPr>
            <a:r>
              <a:t>context before employee data access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100584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5F7F1"/>
                </a:solidFill>
                <a:latin typeface="Aptos"/>
              </a:defRPr>
            </a:pPr>
            <a:r>
              <a:t>Design principle: keep UI, business logic, security, and persistence responsibilities decoupled.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27080" y="228600"/>
            <a:ext cx="502920" cy="502920"/>
          </a:xfrm>
          <a:prstGeom prst="ellipse">
            <a:avLst/>
          </a:prstGeom>
          <a:solidFill>
            <a:srgbClr val="213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84280" y="658368"/>
            <a:ext cx="228600" cy="228600"/>
          </a:xfrm>
          <a:prstGeom prst="ellipse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868680"/>
            <a:ext cx="164592" cy="164592"/>
          </a:xfrm>
          <a:prstGeom prst="ellipse">
            <a:avLst/>
          </a:prstGeom>
          <a:solidFill>
            <a:srgbClr val="E0B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7C6BB"/>
                </a:solidFill>
                <a:latin typeface="Aptos"/>
              </a:defRPr>
            </a:pPr>
            <a:r>
              <a:t>EMPLOYEE MANAGEMENT SYSTEM  •  ARCHITECTURE &amp; WORKFLOW                                      03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8BD6AE"/>
                </a:solidFill>
                <a:latin typeface="Aptos"/>
              </a:defRPr>
            </a:pPr>
            <a:r>
              <a:t>02  |  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32688"/>
            <a:ext cx="106984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7C6BB"/>
                </a:solidFill>
                <a:latin typeface="Aptos"/>
              </a:defRPr>
            </a:pPr>
            <a:r>
              <a:t>The tools and the engineering role each one plays.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3429000" cy="169164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18488"/>
            <a:ext cx="50292" cy="1472184"/>
          </a:xfrm>
          <a:prstGeom prst="rect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655063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8BD6AE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075688"/>
            <a:ext cx="3108960" cy="10332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HTML5 • CSS3 • Vanilla JS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Responsive, SPA-like interface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Modern Grid / Flexbox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508760"/>
            <a:ext cx="3429000" cy="169164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618488"/>
            <a:ext cx="50292" cy="1472184"/>
          </a:xfrm>
          <a:prstGeom prst="rect">
            <a:avLst/>
          </a:prstGeom>
          <a:solidFill>
            <a:srgbClr val="E0B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655063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E0BE77"/>
                </a:solidFill>
                <a:latin typeface="Aptos"/>
              </a:defRPr>
            </a:pPr>
            <a:r>
              <a:t>UX 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075688"/>
            <a:ext cx="3108960" cy="10332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SweetAlert2 11.x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Accessible, non-blocking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success and error dialogs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08760"/>
            <a:ext cx="3429000" cy="169164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618488"/>
            <a:ext cx="50292" cy="1472184"/>
          </a:xfrm>
          <a:prstGeom prst="rect">
            <a:avLst/>
          </a:prstGeom>
          <a:solidFill>
            <a:srgbClr val="81B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655063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81B8DB"/>
                </a:solidFill>
                <a:latin typeface="Aptos"/>
              </a:defRPr>
            </a:pPr>
            <a:r>
              <a:t>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75688"/>
            <a:ext cx="3108960" cy="10332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Node.js • Ngrok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Static hosting + reverse proxy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One public tunnel for demos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566160"/>
            <a:ext cx="3429000" cy="169164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675887"/>
            <a:ext cx="50292" cy="1472184"/>
          </a:xfrm>
          <a:prstGeom prst="rect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3712463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8BD6AE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4133087"/>
            <a:ext cx="3108960" cy="10332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Java 21 • Spring Boot 3.4.4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REST MVC, auto-configuration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standalone application runtime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566160"/>
            <a:ext cx="3429000" cy="169164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34840" y="3675887"/>
            <a:ext cx="50292" cy="1472184"/>
          </a:xfrm>
          <a:prstGeom prst="rect">
            <a:avLst/>
          </a:prstGeom>
          <a:solidFill>
            <a:srgbClr val="E0B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3712463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E0BE77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133087"/>
            <a:ext cx="3108960" cy="10332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Spring Security • JJWT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Stateless JWT validation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BCrypt password hashing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566160"/>
            <a:ext cx="3429000" cy="169164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3675887"/>
            <a:ext cx="50292" cy="1472184"/>
          </a:xfrm>
          <a:prstGeom prst="rect">
            <a:avLst/>
          </a:prstGeom>
          <a:solidFill>
            <a:srgbClr val="81B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3712463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81B8DB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133087"/>
            <a:ext cx="3108960" cy="10332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Spring Data JPA • Hibernate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MySQL 8 • Maven Wrapper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Typed repositories, ORM mapping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relational persistence and builds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897880"/>
            <a:ext cx="105156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7C6BB"/>
                </a:solidFill>
                <a:latin typeface="Aptos"/>
              </a:defRPr>
            </a:pPr>
            <a:r>
              <a:t>Palette reference: Forest Pine #1b4332 • Obsidian #111713 • Silky Gray #f7f8f5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27080" y="228600"/>
            <a:ext cx="502920" cy="502920"/>
          </a:xfrm>
          <a:prstGeom prst="ellipse">
            <a:avLst/>
          </a:prstGeom>
          <a:solidFill>
            <a:srgbClr val="213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84280" y="658368"/>
            <a:ext cx="228600" cy="228600"/>
          </a:xfrm>
          <a:prstGeom prst="ellipse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868680"/>
            <a:ext cx="164592" cy="164592"/>
          </a:xfrm>
          <a:prstGeom prst="ellipse">
            <a:avLst/>
          </a:prstGeom>
          <a:solidFill>
            <a:srgbClr val="E0B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7C6BB"/>
                </a:solidFill>
                <a:latin typeface="Aptos"/>
              </a:defRPr>
            </a:pPr>
            <a:r>
              <a:t>EMPLOYEE MANAGEMENT SYSTEM  •  ARCHITECTURE &amp; WORKFLOW                                      04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8BD6AE"/>
                </a:solidFill>
                <a:latin typeface="Aptos"/>
              </a:defRPr>
            </a:pPr>
            <a:r>
              <a:t>03  |  Component Relationships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32688"/>
            <a:ext cx="106984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7C6BB"/>
                </a:solidFill>
                <a:latin typeface="Aptos"/>
              </a:defRPr>
            </a:pPr>
            <a:r>
              <a:t>Request responsibilities flow from pages to controllers, services, repositories, and entities.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1691640" cy="210312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938528"/>
            <a:ext cx="50292" cy="1883663"/>
          </a:xfrm>
          <a:prstGeom prst="rect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75104"/>
            <a:ext cx="1371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8BD6AE"/>
                </a:solidFill>
                <a:latin typeface="Aptos"/>
              </a:defRPr>
            </a:pPr>
            <a:r>
              <a:t>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371600" cy="1444751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F5F7F1"/>
                </a:solidFill>
                <a:latin typeface="Aptos"/>
              </a:defRPr>
            </a:pPr>
            <a:r>
              <a:t>index.html • login.html</a:t>
            </a:r>
          </a:p>
          <a:p>
            <a:pPr>
              <a:spcAft>
                <a:spcPts val="700"/>
              </a:spcAft>
              <a:defRPr sz="1100" b="0">
                <a:solidFill>
                  <a:srgbClr val="F5F7F1"/>
                </a:solidFill>
                <a:latin typeface="Aptos"/>
              </a:defRPr>
            </a:pPr>
            <a:r>
              <a:t>register.html • add.html • view.html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77440" y="2852928"/>
            <a:ext cx="182880" cy="0"/>
          </a:xfrm>
          <a:prstGeom prst="line">
            <a:avLst/>
          </a:prstGeom>
          <a:ln w="25400">
            <a:solidFill>
              <a:srgbClr val="8BD6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587752" y="1828800"/>
            <a:ext cx="1691640" cy="210312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87752" y="1938528"/>
            <a:ext cx="50292" cy="1883663"/>
          </a:xfrm>
          <a:prstGeom prst="rect">
            <a:avLst/>
          </a:prstGeom>
          <a:solidFill>
            <a:srgbClr val="E0B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70632" y="1975104"/>
            <a:ext cx="1371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E0BE77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2395728"/>
            <a:ext cx="1371600" cy="1444751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F5F7F1"/>
                </a:solidFill>
                <a:latin typeface="Aptos"/>
              </a:defRPr>
            </a:pPr>
            <a:r>
              <a:t>SecurityConfig • JwtRequestFilter</a:t>
            </a:r>
          </a:p>
          <a:p>
            <a:pPr>
              <a:spcAft>
                <a:spcPts val="700"/>
              </a:spcAft>
              <a:defRPr sz="1100" b="0">
                <a:solidFill>
                  <a:srgbClr val="F5F7F1"/>
                </a:solidFill>
                <a:latin typeface="Aptos"/>
              </a:defRPr>
            </a:pPr>
            <a:r>
              <a:t>JwtUtil • UserDetailsServiceImpl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79392" y="2852928"/>
            <a:ext cx="182880" cy="0"/>
          </a:xfrm>
          <a:prstGeom prst="line">
            <a:avLst/>
          </a:prstGeom>
          <a:ln w="25400">
            <a:solidFill>
              <a:srgbClr val="8BD6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489704" y="1828800"/>
            <a:ext cx="1691640" cy="210312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9704" y="1938528"/>
            <a:ext cx="50292" cy="1883663"/>
          </a:xfrm>
          <a:prstGeom prst="rect">
            <a:avLst/>
          </a:prstGeom>
          <a:solidFill>
            <a:srgbClr val="81B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72584" y="1975104"/>
            <a:ext cx="1371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81B8DB"/>
                </a:solidFill>
                <a:latin typeface="Aptos"/>
              </a:defRPr>
            </a:pPr>
            <a:r>
              <a:t>CONTROLLERS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395728"/>
            <a:ext cx="1371600" cy="1444751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F5F7F1"/>
                </a:solidFill>
                <a:latin typeface="Aptos"/>
              </a:defRPr>
            </a:pPr>
            <a:r>
              <a:t>AuthController • empController</a:t>
            </a:r>
          </a:p>
          <a:p>
            <a:pPr>
              <a:spcAft>
                <a:spcPts val="700"/>
              </a:spcAft>
              <a:defRPr sz="1100" b="0">
                <a:solidFill>
                  <a:srgbClr val="F5F7F1"/>
                </a:solidFill>
                <a:latin typeface="Aptos"/>
              </a:defRPr>
            </a:pPr>
            <a:r>
              <a:t>/auth • /employees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81344" y="2852928"/>
            <a:ext cx="182880" cy="0"/>
          </a:xfrm>
          <a:prstGeom prst="line">
            <a:avLst/>
          </a:prstGeom>
          <a:ln w="25400">
            <a:solidFill>
              <a:srgbClr val="8BD6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91656" y="1828800"/>
            <a:ext cx="1691640" cy="210312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91656" y="1938528"/>
            <a:ext cx="50292" cy="1883663"/>
          </a:xfrm>
          <a:prstGeom prst="rect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74536" y="1975104"/>
            <a:ext cx="1371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8BD6AE"/>
                </a:solidFill>
                <a:latin typeface="Aptos"/>
              </a:defRPr>
            </a:pPr>
            <a:r>
              <a:t>SERVICES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74536" y="2395728"/>
            <a:ext cx="1371600" cy="1444751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F5F7F1"/>
                </a:solidFill>
                <a:latin typeface="Aptos"/>
              </a:defRPr>
            </a:pPr>
            <a:r>
              <a:t>AuthService • empService</a:t>
            </a:r>
          </a:p>
          <a:p>
            <a:pPr>
              <a:spcAft>
                <a:spcPts val="700"/>
              </a:spcAft>
              <a:defRPr sz="1100" b="0">
                <a:solidFill>
                  <a:srgbClr val="F5F7F1"/>
                </a:solidFill>
                <a:latin typeface="Aptos"/>
              </a:defRPr>
            </a:pPr>
            <a:r>
              <a:t>Validation • tenant-scoped CRUD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083296" y="2852928"/>
            <a:ext cx="182879" cy="0"/>
          </a:xfrm>
          <a:prstGeom prst="line">
            <a:avLst/>
          </a:prstGeom>
          <a:ln w="25400">
            <a:solidFill>
              <a:srgbClr val="8BD6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293608" y="1828800"/>
            <a:ext cx="1691640" cy="210312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93608" y="1938528"/>
            <a:ext cx="50292" cy="1883663"/>
          </a:xfrm>
          <a:prstGeom prst="rect">
            <a:avLst/>
          </a:prstGeom>
          <a:solidFill>
            <a:srgbClr val="E0B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76488" y="1975104"/>
            <a:ext cx="1371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E0BE77"/>
                </a:solidFill>
                <a:latin typeface="Aptos"/>
              </a:defRPr>
            </a:pPr>
            <a:r>
              <a:t>REPOSITORIES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6488" y="2395728"/>
            <a:ext cx="1371600" cy="1444751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F5F7F1"/>
                </a:solidFill>
                <a:latin typeface="Aptos"/>
              </a:defRPr>
            </a:pPr>
            <a:r>
              <a:t>UserRepository • empRepository</a:t>
            </a:r>
          </a:p>
          <a:p>
            <a:pPr>
              <a:spcAft>
                <a:spcPts val="700"/>
              </a:spcAft>
              <a:defRPr sz="1100" b="0">
                <a:solidFill>
                  <a:srgbClr val="F5F7F1"/>
                </a:solidFill>
                <a:latin typeface="Aptos"/>
              </a:defRPr>
            </a:pPr>
            <a:r>
              <a:t>Email lookup • company filters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985248" y="2852928"/>
            <a:ext cx="182880" cy="0"/>
          </a:xfrm>
          <a:prstGeom prst="line">
            <a:avLst/>
          </a:prstGeom>
          <a:ln w="25400">
            <a:solidFill>
              <a:srgbClr val="8BD6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195560" y="1828800"/>
            <a:ext cx="1691640" cy="210312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95560" y="1938528"/>
            <a:ext cx="50292" cy="1883663"/>
          </a:xfrm>
          <a:prstGeom prst="rect">
            <a:avLst/>
          </a:prstGeom>
          <a:solidFill>
            <a:srgbClr val="81B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78440" y="1975104"/>
            <a:ext cx="1371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81B8DB"/>
                </a:solidFill>
                <a:latin typeface="Aptos"/>
              </a:defRPr>
            </a:pPr>
            <a:r>
              <a:t>ENTITIES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78440" y="2395728"/>
            <a:ext cx="1371600" cy="1444751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F5F7F1"/>
                </a:solidFill>
                <a:latin typeface="Aptos"/>
              </a:defRPr>
            </a:pPr>
            <a:r>
              <a:t>User • Employee</a:t>
            </a:r>
          </a:p>
          <a:p>
            <a:pPr>
              <a:spcAft>
                <a:spcPts val="700"/>
              </a:spcAft>
              <a:defRPr sz="1100" b="0">
                <a:solidFill>
                  <a:srgbClr val="F5F7F1"/>
                </a:solidFill>
                <a:latin typeface="Aptos"/>
              </a:defRPr>
            </a:pPr>
            <a:r>
              <a:t>JPA-mapped domain records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709160"/>
            <a:ext cx="1051560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5F7F1"/>
                </a:solidFill>
                <a:latin typeface="Aptos"/>
              </a:defRPr>
            </a:pPr>
            <a:r>
              <a:t>Key relationships</a:t>
            </a:r>
          </a:p>
          <a:p>
            <a:pPr>
              <a:spcAft>
                <a:spcPts val="700"/>
              </a:spcAft>
              <a:defRPr sz="1400" b="0">
                <a:solidFill>
                  <a:srgbClr val="F5F7F1"/>
                </a:solidFill>
                <a:latin typeface="Aptos"/>
              </a:defRPr>
            </a:pPr>
            <a:r>
              <a:t>• AuthController → AuthService → UserRepository / JwtUtil</a:t>
            </a:r>
          </a:p>
          <a:p>
            <a:pPr>
              <a:spcAft>
                <a:spcPts val="700"/>
              </a:spcAft>
              <a:defRPr sz="1400" b="0">
                <a:solidFill>
                  <a:srgbClr val="F5F7F1"/>
                </a:solidFill>
                <a:latin typeface="Aptos"/>
              </a:defRPr>
            </a:pPr>
            <a:r>
              <a:t>• empController → empService → empRepository</a:t>
            </a:r>
          </a:p>
          <a:p>
            <a:pPr>
              <a:spcAft>
                <a:spcPts val="700"/>
              </a:spcAft>
              <a:defRPr sz="1400" b="0">
                <a:solidFill>
                  <a:srgbClr val="F5F7F1"/>
                </a:solidFill>
                <a:latin typeface="Aptos"/>
              </a:defRPr>
            </a:pPr>
            <a:r>
              <a:t>• Security filter validates requests and resolves the authenticated principal.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27080" y="228600"/>
            <a:ext cx="502920" cy="502920"/>
          </a:xfrm>
          <a:prstGeom prst="ellipse">
            <a:avLst/>
          </a:prstGeom>
          <a:solidFill>
            <a:srgbClr val="213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84280" y="658368"/>
            <a:ext cx="228600" cy="228600"/>
          </a:xfrm>
          <a:prstGeom prst="ellipse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868680"/>
            <a:ext cx="164592" cy="164592"/>
          </a:xfrm>
          <a:prstGeom prst="ellipse">
            <a:avLst/>
          </a:prstGeom>
          <a:solidFill>
            <a:srgbClr val="E0B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7C6BB"/>
                </a:solidFill>
                <a:latin typeface="Aptos"/>
              </a:defRPr>
            </a:pPr>
            <a:r>
              <a:t>EMPLOYEE MANAGEMENT SYSTEM  •  ARCHITECTURE &amp; WORKFLOW                                      05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8BD6AE"/>
                </a:solidFill>
                <a:latin typeface="Aptos"/>
              </a:defRPr>
            </a:pPr>
            <a:r>
              <a:t>04  |  Registration &amp; Login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32688"/>
            <a:ext cx="106984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7C6BB"/>
                </a:solidFill>
                <a:latin typeface="Aptos"/>
              </a:defRPr>
            </a:pPr>
            <a:r>
              <a:t>Credentials are validated, passwords are hashed, and successful login returns a signed JWT.</a:t>
            </a:r>
          </a:p>
        </p:txBody>
      </p:sp>
      <p:sp>
        <p:nvSpPr>
          <p:cNvPr id="9" name="Oval 8"/>
          <p:cNvSpPr/>
          <p:nvPr/>
        </p:nvSpPr>
        <p:spPr>
          <a:xfrm>
            <a:off x="1124712" y="1645920"/>
            <a:ext cx="457200" cy="457200"/>
          </a:xfrm>
          <a:prstGeom prst="ellipse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916"/>
                </a:solidFill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286000"/>
            <a:ext cx="1691640" cy="150876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395728"/>
            <a:ext cx="50292" cy="1289304"/>
          </a:xfrm>
          <a:prstGeom prst="rect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432304"/>
            <a:ext cx="1371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8BD6AE"/>
                </a:solidFill>
                <a:latin typeface="Aptos"/>
              </a:defRPr>
            </a:pPr>
            <a:r>
              <a:t>USER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52928"/>
            <a:ext cx="1371600" cy="8503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Username, company,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Gmail, password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94560" y="3017520"/>
            <a:ext cx="210312" cy="0"/>
          </a:xfrm>
          <a:prstGeom prst="line">
            <a:avLst/>
          </a:prstGeom>
          <a:ln w="25400">
            <a:solidFill>
              <a:srgbClr val="8BD6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063240" y="1645920"/>
            <a:ext cx="457200" cy="457200"/>
          </a:xfrm>
          <a:prstGeom prst="ellipse">
            <a:avLst/>
          </a:prstGeom>
          <a:solidFill>
            <a:srgbClr val="213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916"/>
                </a:solidFill>
              </a:defRPr>
            </a:pPr>
            <a: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41448" y="2286000"/>
            <a:ext cx="1691640" cy="150876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41448" y="2395728"/>
            <a:ext cx="50292" cy="1289304"/>
          </a:xfrm>
          <a:prstGeom prst="rect">
            <a:avLst/>
          </a:prstGeom>
          <a:solidFill>
            <a:srgbClr val="E0B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24328" y="2432304"/>
            <a:ext cx="1371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E0BE77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24328" y="2852928"/>
            <a:ext cx="1371600" cy="8503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Client checks +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server-side checks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33087" y="3017520"/>
            <a:ext cx="210313" cy="0"/>
          </a:xfrm>
          <a:prstGeom prst="line">
            <a:avLst/>
          </a:prstGeom>
          <a:ln w="25400">
            <a:solidFill>
              <a:srgbClr val="8BD6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001768" y="1645920"/>
            <a:ext cx="457200" cy="457200"/>
          </a:xfrm>
          <a:prstGeom prst="ellipse">
            <a:avLst/>
          </a:prstGeom>
          <a:solidFill>
            <a:srgbClr val="213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916"/>
                </a:solidFill>
              </a:defRPr>
            </a:pPr>
            <a: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9976" y="2286000"/>
            <a:ext cx="1691640" cy="150876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79976" y="2395728"/>
            <a:ext cx="50292" cy="1289304"/>
          </a:xfrm>
          <a:prstGeom prst="rect">
            <a:avLst/>
          </a:prstGeom>
          <a:solidFill>
            <a:srgbClr val="81B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2856" y="2432304"/>
            <a:ext cx="1371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81B8DB"/>
                </a:solidFill>
                <a:latin typeface="Aptos"/>
              </a:defRPr>
            </a:pPr>
            <a:r>
              <a:t>AUTH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852928"/>
            <a:ext cx="1371600" cy="8503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Check email; hash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password with BCrypt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71616" y="3017520"/>
            <a:ext cx="210312" cy="0"/>
          </a:xfrm>
          <a:prstGeom prst="line">
            <a:avLst/>
          </a:prstGeom>
          <a:ln w="25400">
            <a:solidFill>
              <a:srgbClr val="8BD6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940296" y="1645920"/>
            <a:ext cx="457200" cy="457200"/>
          </a:xfrm>
          <a:prstGeom prst="ellipse">
            <a:avLst/>
          </a:prstGeom>
          <a:solidFill>
            <a:srgbClr val="213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916"/>
                </a:solidFill>
              </a:defRPr>
            </a:pPr>
            <a: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18504" y="2286000"/>
            <a:ext cx="1691640" cy="150876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18504" y="2395728"/>
            <a:ext cx="50292" cy="1289304"/>
          </a:xfrm>
          <a:prstGeom prst="rect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01384" y="2432304"/>
            <a:ext cx="1371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8BD6AE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1384" y="2852928"/>
            <a:ext cx="1371600" cy="8503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Persist user record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or fetch account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010144" y="3017520"/>
            <a:ext cx="210312" cy="0"/>
          </a:xfrm>
          <a:prstGeom prst="line">
            <a:avLst/>
          </a:prstGeom>
          <a:ln w="25400">
            <a:solidFill>
              <a:srgbClr val="8BD6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878824" y="1645920"/>
            <a:ext cx="457200" cy="457200"/>
          </a:xfrm>
          <a:prstGeom prst="ellipse">
            <a:avLst/>
          </a:prstGeom>
          <a:solidFill>
            <a:srgbClr val="213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916"/>
                </a:solidFill>
              </a:defRPr>
            </a:pPr>
            <a:r>
              <a:t>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57032" y="2286000"/>
            <a:ext cx="1691640" cy="150876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57032" y="2395728"/>
            <a:ext cx="50292" cy="1289304"/>
          </a:xfrm>
          <a:prstGeom prst="rect">
            <a:avLst/>
          </a:prstGeom>
          <a:solidFill>
            <a:srgbClr val="E0B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39912" y="2432304"/>
            <a:ext cx="1371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E0BE77"/>
                </a:solidFill>
                <a:latin typeface="Aptos"/>
              </a:defRPr>
            </a:pPr>
            <a:r>
              <a:t>JWT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9912" y="2852928"/>
            <a:ext cx="1371600" cy="8503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Verify password;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sign token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948672" y="3017520"/>
            <a:ext cx="210312" cy="0"/>
          </a:xfrm>
          <a:prstGeom prst="line">
            <a:avLst/>
          </a:prstGeom>
          <a:ln w="25400">
            <a:solidFill>
              <a:srgbClr val="8BD6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10817352" y="1645920"/>
            <a:ext cx="457200" cy="457200"/>
          </a:xfrm>
          <a:prstGeom prst="ellipse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916"/>
                </a:solidFill>
              </a:defRPr>
            </a:pPr>
            <a:r>
              <a:t>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195560" y="2286000"/>
            <a:ext cx="1691640" cy="150876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195560" y="2395728"/>
            <a:ext cx="50292" cy="1289304"/>
          </a:xfrm>
          <a:prstGeom prst="rect">
            <a:avLst/>
          </a:prstGeom>
          <a:solidFill>
            <a:srgbClr val="81B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378440" y="2432304"/>
            <a:ext cx="1371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81B8DB"/>
                </a:solidFill>
                <a:latin typeface="Aptos"/>
              </a:defRPr>
            </a:pPr>
            <a:r>
              <a:t>BROWSER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78440" y="2852928"/>
            <a:ext cx="1371600" cy="8503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Receive JWT and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store in localStorage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" y="4434840"/>
            <a:ext cx="4754880" cy="91440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4400" y="4544568"/>
            <a:ext cx="50292" cy="694944"/>
          </a:xfrm>
          <a:prstGeom prst="rect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7280" y="4581144"/>
            <a:ext cx="44348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8BD6AE"/>
                </a:solidFill>
                <a:latin typeface="Aptos"/>
              </a:defRPr>
            </a:pPr>
            <a:r>
              <a:t>REGISTER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5001768"/>
            <a:ext cx="44348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POST /auth/register → duplicate check → BCrypt hash → save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4434840"/>
            <a:ext cx="4754880" cy="91440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00800" y="4544568"/>
            <a:ext cx="50292" cy="694944"/>
          </a:xfrm>
          <a:prstGeom prst="rect">
            <a:avLst/>
          </a:prstGeom>
          <a:solidFill>
            <a:srgbClr val="E0B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0" y="4581144"/>
            <a:ext cx="44348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E0BE77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5001768"/>
            <a:ext cx="44348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POST /auth/login → credential match → signed JWT response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5715000"/>
            <a:ext cx="100584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7C6BB"/>
                </a:solidFill>
                <a:latin typeface="Aptos"/>
              </a:defRPr>
            </a:pPr>
            <a:r>
              <a:t>JWT claims carry the user identity and company context used for subsequent authorization.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27080" y="228600"/>
            <a:ext cx="502920" cy="502920"/>
          </a:xfrm>
          <a:prstGeom prst="ellipse">
            <a:avLst/>
          </a:prstGeom>
          <a:solidFill>
            <a:srgbClr val="213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84280" y="658368"/>
            <a:ext cx="228600" cy="228600"/>
          </a:xfrm>
          <a:prstGeom prst="ellipse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868680"/>
            <a:ext cx="164592" cy="164592"/>
          </a:xfrm>
          <a:prstGeom prst="ellipse">
            <a:avLst/>
          </a:prstGeom>
          <a:solidFill>
            <a:srgbClr val="E0B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7C6BB"/>
                </a:solidFill>
                <a:latin typeface="Aptos"/>
              </a:defRPr>
            </a:pPr>
            <a:r>
              <a:t>EMPLOYEE MANAGEMENT SYSTEM  •  ARCHITECTURE &amp; WORKFLOW                                      06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8BD6AE"/>
                </a:solidFill>
                <a:latin typeface="Aptos"/>
              </a:defRPr>
            </a:pPr>
            <a:r>
              <a:t>05  |  Authenticated Employee CRUD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32688"/>
            <a:ext cx="106984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7C6BB"/>
                </a:solidFill>
                <a:latin typeface="Aptos"/>
              </a:defRPr>
            </a:pPr>
            <a:r>
              <a:t>Every protected employee request carries a Bearer JWT.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2286000" cy="118872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64207"/>
            <a:ext cx="50292" cy="969264"/>
          </a:xfrm>
          <a:prstGeom prst="rect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00784"/>
            <a:ext cx="1965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8BD6AE"/>
                </a:solidFill>
                <a:latin typeface="Aptos"/>
              </a:defRPr>
            </a:pPr>
            <a:r>
              <a:t>BROWSER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21408"/>
            <a:ext cx="196596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7F1"/>
                </a:solidFill>
                <a:latin typeface="Aptos"/>
              </a:defRPr>
            </a:pPr>
            <a:r>
              <a:t>Authorization: Bearer</a:t>
            </a:r>
          </a:p>
          <a:p>
            <a:pPr>
              <a:spcAft>
                <a:spcPts val="700"/>
              </a:spcAft>
              <a:defRPr sz="1300" b="0">
                <a:solidFill>
                  <a:srgbClr val="F5F7F1"/>
                </a:solidFill>
                <a:latin typeface="Aptos"/>
              </a:defRPr>
            </a:pPr>
            <a:r>
              <a:t>&lt;JWT token&gt;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1554480"/>
            <a:ext cx="2286000" cy="118872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0" y="1664207"/>
            <a:ext cx="50292" cy="969264"/>
          </a:xfrm>
          <a:prstGeom prst="rect">
            <a:avLst/>
          </a:prstGeom>
          <a:solidFill>
            <a:srgbClr val="E0B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1700784"/>
            <a:ext cx="1965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E0BE77"/>
                </a:solidFill>
                <a:latin typeface="Aptos"/>
              </a:defRPr>
            </a:pPr>
            <a:r>
              <a:t>JWT 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121408"/>
            <a:ext cx="196596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Extract token • parse claims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set security 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1554480"/>
            <a:ext cx="2286000" cy="118872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1664207"/>
            <a:ext cx="50292" cy="969264"/>
          </a:xfrm>
          <a:prstGeom prst="rect">
            <a:avLst/>
          </a:prstGeom>
          <a:solidFill>
            <a:srgbClr val="81B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700784"/>
            <a:ext cx="1965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81B8DB"/>
                </a:solidFill>
                <a:latin typeface="Aptos"/>
              </a:defRPr>
            </a:pPr>
            <a:r>
              <a:t>EMP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121408"/>
            <a:ext cx="196596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Resolve logged-in company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apply tenant boundary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0" y="1554480"/>
            <a:ext cx="2011680" cy="118872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09760" y="1664207"/>
            <a:ext cx="50292" cy="969264"/>
          </a:xfrm>
          <a:prstGeom prst="rect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1700784"/>
            <a:ext cx="16916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8BD6AE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121408"/>
            <a:ext cx="169164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Company-filtered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employee records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017520" y="2148840"/>
            <a:ext cx="640080" cy="0"/>
          </a:xfrm>
          <a:prstGeom prst="line">
            <a:avLst/>
          </a:prstGeom>
          <a:ln w="25400">
            <a:solidFill>
              <a:srgbClr val="8BD6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943600" y="2148840"/>
            <a:ext cx="640080" cy="0"/>
          </a:xfrm>
          <a:prstGeom prst="line">
            <a:avLst/>
          </a:prstGeom>
          <a:ln w="25400">
            <a:solidFill>
              <a:srgbClr val="8BD6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869680" y="2148840"/>
            <a:ext cx="640080" cy="0"/>
          </a:xfrm>
          <a:prstGeom prst="line">
            <a:avLst/>
          </a:prstGeom>
          <a:ln w="25400">
            <a:solidFill>
              <a:srgbClr val="8BD6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1520" y="3657600"/>
            <a:ext cx="2468880" cy="137160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3767328"/>
            <a:ext cx="50292" cy="1152144"/>
          </a:xfrm>
          <a:prstGeom prst="rect">
            <a:avLst/>
          </a:prstGeom>
          <a:solidFill>
            <a:srgbClr val="81B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803904"/>
            <a:ext cx="21488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81B8DB"/>
                </a:solidFill>
                <a:latin typeface="Aptos"/>
              </a:defRPr>
            </a:pPr>
            <a:r>
              <a:t>GET  |  List / retrieve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224528"/>
            <a:ext cx="214884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Optional role &amp; gender filters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66160" y="3657600"/>
            <a:ext cx="2468880" cy="137160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66160" y="3767328"/>
            <a:ext cx="50292" cy="1152144"/>
          </a:xfrm>
          <a:prstGeom prst="rect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3803904"/>
            <a:ext cx="21488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8BD6AE"/>
                </a:solidFill>
                <a:latin typeface="Aptos"/>
              </a:defRPr>
            </a:pPr>
            <a:r>
              <a:t>POST  |  Create employee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40" y="4224528"/>
            <a:ext cx="214884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Enroll under current company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657600"/>
            <a:ext cx="2468880" cy="137160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3767328"/>
            <a:ext cx="50292" cy="1152144"/>
          </a:xfrm>
          <a:prstGeom prst="rect">
            <a:avLst/>
          </a:prstGeom>
          <a:solidFill>
            <a:srgbClr val="E0B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3803904"/>
            <a:ext cx="21488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E0BE77"/>
                </a:solidFill>
                <a:latin typeface="Aptos"/>
              </a:defRPr>
            </a:pPr>
            <a:r>
              <a:t>PUT  |  Update employee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224528"/>
            <a:ext cx="214884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Change permitted staff fields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35440" y="3657600"/>
            <a:ext cx="2468880" cy="137160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35440" y="3767328"/>
            <a:ext cx="50292" cy="1152144"/>
          </a:xfrm>
          <a:prstGeom prst="rect">
            <a:avLst/>
          </a:prstGeom>
          <a:solidFill>
            <a:srgbClr val="ED8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18320" y="3803904"/>
            <a:ext cx="21488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ED8B7E"/>
                </a:solidFill>
                <a:latin typeface="Aptos"/>
              </a:defRPr>
            </a:pPr>
            <a:r>
              <a:t>DELETE  |  Remove employee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4224528"/>
            <a:ext cx="2148840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Delete within tenant boundary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623560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5F7F1"/>
                </a:solidFill>
                <a:latin typeface="Aptos"/>
              </a:defRPr>
            </a:pPr>
            <a:r>
              <a:t>Endpoint family: /employees and /employees/{id} • Protected by Bearer JWT.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27080" y="228600"/>
            <a:ext cx="502920" cy="502920"/>
          </a:xfrm>
          <a:prstGeom prst="ellipse">
            <a:avLst/>
          </a:prstGeom>
          <a:solidFill>
            <a:srgbClr val="213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84280" y="658368"/>
            <a:ext cx="228600" cy="228600"/>
          </a:xfrm>
          <a:prstGeom prst="ellipse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868680"/>
            <a:ext cx="164592" cy="164592"/>
          </a:xfrm>
          <a:prstGeom prst="ellipse">
            <a:avLst/>
          </a:prstGeom>
          <a:solidFill>
            <a:srgbClr val="E0B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7C6BB"/>
                </a:solidFill>
                <a:latin typeface="Aptos"/>
              </a:defRPr>
            </a:pPr>
            <a:r>
              <a:t>EMPLOYEE MANAGEMENT SYSTEM  •  ARCHITECTURE &amp; WORKFLOW                                      07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8BD6AE"/>
                </a:solidFill>
                <a:latin typeface="Aptos"/>
              </a:defRPr>
            </a:pPr>
            <a:r>
              <a:t>06  |  Relational Data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32688"/>
            <a:ext cx="106984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7C6BB"/>
                </a:solidFill>
                <a:latin typeface="Aptos"/>
              </a:defRPr>
            </a:pPr>
            <a:r>
              <a:t>Two core tables support tenant accounts and company-scoped employee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600200"/>
            <a:ext cx="4023360" cy="292608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709928"/>
            <a:ext cx="50292" cy="2706624"/>
          </a:xfrm>
          <a:prstGeom prst="rect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746504"/>
            <a:ext cx="37033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8BD6AE"/>
                </a:solidFill>
                <a:latin typeface="Aptos"/>
              </a:defRPr>
            </a:pPr>
            <a:r>
              <a:t>USERS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67128"/>
            <a:ext cx="3703320" cy="22677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7F1"/>
                </a:solidFill>
                <a:latin typeface="Aptos"/>
              </a:defRPr>
            </a:pPr>
            <a:r>
              <a:t>id  — primary key</a:t>
            </a:r>
          </a:p>
          <a:p>
            <a:pPr>
              <a:spcAft>
                <a:spcPts val="700"/>
              </a:spcAft>
              <a:defRPr sz="1500" b="0">
                <a:solidFill>
                  <a:srgbClr val="F5F7F1"/>
                </a:solidFill>
                <a:latin typeface="Aptos"/>
              </a:defRPr>
            </a:pPr>
            <a:r>
              <a:t>username  — display name</a:t>
            </a:r>
          </a:p>
          <a:p>
            <a:pPr>
              <a:spcAft>
                <a:spcPts val="700"/>
              </a:spcAft>
              <a:defRPr sz="1500" b="0">
                <a:solidFill>
                  <a:srgbClr val="F5F7F1"/>
                </a:solidFill>
                <a:latin typeface="Aptos"/>
              </a:defRPr>
            </a:pPr>
            <a:r>
              <a:t>company_name  — tenant identifier</a:t>
            </a:r>
          </a:p>
          <a:p>
            <a:pPr>
              <a:spcAft>
                <a:spcPts val="700"/>
              </a:spcAft>
              <a:defRPr sz="1500" b="0">
                <a:solidFill>
                  <a:srgbClr val="F5F7F1"/>
                </a:solidFill>
                <a:latin typeface="Aptos"/>
              </a:defRPr>
            </a:pPr>
            <a:r>
              <a:t>email  — unique account email</a:t>
            </a:r>
          </a:p>
          <a:p>
            <a:pPr>
              <a:spcAft>
                <a:spcPts val="700"/>
              </a:spcAft>
              <a:defRPr sz="1500" b="0">
                <a:solidFill>
                  <a:srgbClr val="F5F7F1"/>
                </a:solidFill>
                <a:latin typeface="Aptos"/>
              </a:defRPr>
            </a:pPr>
            <a:r>
              <a:t>password  — BCrypt hash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1600200"/>
            <a:ext cx="4023360" cy="292608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8040" y="1709928"/>
            <a:ext cx="50292" cy="2706624"/>
          </a:xfrm>
          <a:prstGeom prst="rect">
            <a:avLst/>
          </a:prstGeom>
          <a:solidFill>
            <a:srgbClr val="81B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19" y="1746504"/>
            <a:ext cx="37033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81B8DB"/>
                </a:solidFill>
                <a:latin typeface="Aptos"/>
              </a:defRPr>
            </a:pPr>
            <a:r>
              <a:t>EMPLOYEES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19" y="2167128"/>
            <a:ext cx="3703320" cy="22677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5F7F1"/>
                </a:solidFill>
                <a:latin typeface="Aptos"/>
              </a:defRPr>
            </a:pPr>
            <a:r>
              <a:t>id  — primary key</a:t>
            </a:r>
          </a:p>
          <a:p>
            <a:pPr>
              <a:spcAft>
                <a:spcPts val="700"/>
              </a:spcAft>
              <a:defRPr sz="1400" b="0">
                <a:solidFill>
                  <a:srgbClr val="F5F7F1"/>
                </a:solidFill>
                <a:latin typeface="Aptos"/>
              </a:defRPr>
            </a:pPr>
            <a:r>
              <a:t>name  — staff name</a:t>
            </a:r>
          </a:p>
          <a:p>
            <a:pPr>
              <a:spcAft>
                <a:spcPts val="700"/>
              </a:spcAft>
              <a:defRPr sz="1400" b="0">
                <a:solidFill>
                  <a:srgbClr val="F5F7F1"/>
                </a:solidFill>
                <a:latin typeface="Aptos"/>
              </a:defRPr>
            </a:pPr>
            <a:r>
              <a:t>age  — validated 18–100</a:t>
            </a:r>
          </a:p>
          <a:p>
            <a:pPr>
              <a:spcAft>
                <a:spcPts val="700"/>
              </a:spcAft>
              <a:defRPr sz="1400" b="0">
                <a:solidFill>
                  <a:srgbClr val="F5F7F1"/>
                </a:solidFill>
                <a:latin typeface="Aptos"/>
              </a:defRPr>
            </a:pPr>
            <a:r>
              <a:t>gender  — Male / Female / Other</a:t>
            </a:r>
          </a:p>
          <a:p>
            <a:pPr>
              <a:spcAft>
                <a:spcPts val="700"/>
              </a:spcAft>
              <a:defRPr sz="1400" b="0">
                <a:solidFill>
                  <a:srgbClr val="F5F7F1"/>
                </a:solidFill>
                <a:latin typeface="Aptos"/>
              </a:defRPr>
            </a:pPr>
            <a:r>
              <a:t>email  — staff email</a:t>
            </a:r>
          </a:p>
          <a:p>
            <a:pPr>
              <a:spcAft>
                <a:spcPts val="700"/>
              </a:spcAft>
              <a:defRPr sz="1400" b="0">
                <a:solidFill>
                  <a:srgbClr val="F5F7F1"/>
                </a:solidFill>
                <a:latin typeface="Aptos"/>
              </a:defRPr>
            </a:pPr>
            <a:r>
              <a:t>role  — job title</a:t>
            </a:r>
          </a:p>
          <a:p>
            <a:pPr>
              <a:spcAft>
                <a:spcPts val="700"/>
              </a:spcAft>
              <a:defRPr sz="1400" b="0">
                <a:solidFill>
                  <a:srgbClr val="F5F7F1"/>
                </a:solidFill>
                <a:latin typeface="Aptos"/>
              </a:defRPr>
            </a:pPr>
            <a:r>
              <a:t>company_name  — tenant reference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37760" y="2926080"/>
            <a:ext cx="2240280" cy="0"/>
          </a:xfrm>
          <a:prstGeom prst="line">
            <a:avLst/>
          </a:prstGeom>
          <a:ln w="31750">
            <a:solidFill>
              <a:srgbClr val="E0B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983480" y="2423160"/>
            <a:ext cx="21031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E0BE77"/>
                </a:solidFill>
                <a:latin typeface="Aptos"/>
              </a:defRPr>
            </a:pPr>
            <a:r>
              <a:t>company_name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074920"/>
            <a:ext cx="1005840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5F7F1"/>
                </a:solidFill>
                <a:latin typeface="Aptos"/>
              </a:defRPr>
            </a:pPr>
            <a:r>
              <a:t>Persistence path: Repository → Spring Data JPA / Hibernate → MySQL 8</a:t>
            </a:r>
          </a:p>
          <a:p>
            <a:pPr>
              <a:spcAft>
                <a:spcPts val="700"/>
              </a:spcAft>
              <a:defRPr sz="1400" b="0">
                <a:solidFill>
                  <a:srgbClr val="F5F7F1"/>
                </a:solidFill>
                <a:latin typeface="Aptos"/>
              </a:defRPr>
            </a:pPr>
            <a:r>
              <a:t>IDs are auto-incremented; repository methods perform email lookups and tenant-filtered queries.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27080" y="228600"/>
            <a:ext cx="502920" cy="502920"/>
          </a:xfrm>
          <a:prstGeom prst="ellipse">
            <a:avLst/>
          </a:prstGeom>
          <a:solidFill>
            <a:srgbClr val="213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84280" y="658368"/>
            <a:ext cx="228600" cy="228600"/>
          </a:xfrm>
          <a:prstGeom prst="ellipse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868680"/>
            <a:ext cx="164592" cy="164592"/>
          </a:xfrm>
          <a:prstGeom prst="ellipse">
            <a:avLst/>
          </a:prstGeom>
          <a:solidFill>
            <a:srgbClr val="E0B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7C6BB"/>
                </a:solidFill>
                <a:latin typeface="Aptos"/>
              </a:defRPr>
            </a:pPr>
            <a:r>
              <a:t>EMPLOYEE MANAGEMENT SYSTEM  •  ARCHITECTURE &amp; WORKFLOW                                      08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8BD6AE"/>
                </a:solidFill>
                <a:latin typeface="Aptos"/>
              </a:defRPr>
            </a:pPr>
            <a:r>
              <a:t>07  |  Security, Validation &amp; Multi-Tenancy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32688"/>
            <a:ext cx="106984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7C6BB"/>
                </a:solidFill>
                <a:latin typeface="Aptos"/>
              </a:defRPr>
            </a:pPr>
            <a:r>
              <a:t>Defense-in-depth combines identity verification, input rules, and strict company-level scoping.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3520440" cy="182880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18488"/>
            <a:ext cx="50292" cy="1609344"/>
          </a:xfrm>
          <a:prstGeom prst="rect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655063"/>
            <a:ext cx="32004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8BD6AE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075688"/>
            <a:ext cx="3200400" cy="11704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• BCrypt password hashing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• Signed JWT (HMAC-SHA256)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• Stateless Spring Security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• Bearer-token request filter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508760"/>
            <a:ext cx="3520440" cy="182880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618488"/>
            <a:ext cx="50292" cy="1609344"/>
          </a:xfrm>
          <a:prstGeom prst="rect">
            <a:avLst/>
          </a:prstGeom>
          <a:solidFill>
            <a:srgbClr val="E0B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655063"/>
            <a:ext cx="32004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E0BE77"/>
                </a:solidFill>
                <a:latin typeface="Aptos"/>
              </a:defRPr>
            </a:pPr>
            <a:r>
              <a:t>INPUT 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075688"/>
            <a:ext cx="3200400" cy="11704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• Gmail-only email pattern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• Name: 3–50 allowed characters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• Age: 18–100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• Allowed gender and role values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508760"/>
            <a:ext cx="3520440" cy="182880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618488"/>
            <a:ext cx="50292" cy="1609344"/>
          </a:xfrm>
          <a:prstGeom prst="rect">
            <a:avLst/>
          </a:prstGeom>
          <a:solidFill>
            <a:srgbClr val="81B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655063"/>
            <a:ext cx="32004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81B8DB"/>
                </a:solidFill>
                <a:latin typeface="Aptos"/>
              </a:defRPr>
            </a:pPr>
            <a:r>
              <a:t>TENANT ISOLATION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075688"/>
            <a:ext cx="3200400" cy="11704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• Company derived from security context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• Filter SELECT / INSERT / UPDATE / DELETE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• Prevent cross-company data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794760"/>
            <a:ext cx="105156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8BD6AE"/>
                </a:solidFill>
                <a:latin typeface="Aptos"/>
              </a:defRPr>
            </a:pPr>
            <a:r>
              <a:t>Human-friendly error responses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43400"/>
            <a:ext cx="5166360" cy="59436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453128"/>
            <a:ext cx="50292" cy="374904"/>
          </a:xfrm>
          <a:prstGeom prst="rect">
            <a:avLst/>
          </a:prstGeom>
          <a:solidFill>
            <a:srgbClr val="ED8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489704"/>
            <a:ext cx="48463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ED8B7E"/>
                </a:solidFill>
                <a:latin typeface="Aptos"/>
              </a:defRPr>
            </a:pPr>
            <a:r>
              <a:t>USER_NOT_REGISTERED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910328"/>
            <a:ext cx="4846320" cy="-640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F5F7F1"/>
                </a:solidFill>
                <a:latin typeface="Aptos"/>
              </a:defRPr>
            </a:pPr>
            <a:r>
              <a:t>Suggest account creation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343400"/>
            <a:ext cx="5166360" cy="59436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4453128"/>
            <a:ext cx="50292" cy="374904"/>
          </a:xfrm>
          <a:prstGeom prst="rect">
            <a:avLst/>
          </a:prstGeom>
          <a:solidFill>
            <a:srgbClr val="E0B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489704"/>
            <a:ext cx="48463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E0BE77"/>
                </a:solidFill>
                <a:latin typeface="Aptos"/>
              </a:defRPr>
            </a:pPr>
            <a:r>
              <a:t>INVALID_CREDENTIALS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910328"/>
            <a:ext cx="4846320" cy="-640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F5F7F1"/>
                </a:solidFill>
                <a:latin typeface="Aptos"/>
              </a:defRPr>
            </a:pPr>
            <a:r>
              <a:t>Password mismatch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120640"/>
            <a:ext cx="5166360" cy="59436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5230368"/>
            <a:ext cx="50292" cy="374904"/>
          </a:xfrm>
          <a:prstGeom prst="rect">
            <a:avLst/>
          </a:prstGeom>
          <a:solidFill>
            <a:srgbClr val="81B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266944"/>
            <a:ext cx="48463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81B8DB"/>
                </a:solidFill>
                <a:latin typeface="Aptos"/>
              </a:defRPr>
            </a:pPr>
            <a:r>
              <a:t>USER_ALREADY_EXISTS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687568"/>
            <a:ext cx="4846320" cy="-640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F5F7F1"/>
                </a:solidFill>
                <a:latin typeface="Aptos"/>
              </a:defRPr>
            </a:pPr>
            <a:r>
              <a:t>Email already in use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5120640"/>
            <a:ext cx="5166360" cy="59436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5080" y="5230368"/>
            <a:ext cx="50292" cy="374904"/>
          </a:xfrm>
          <a:prstGeom prst="rect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5266944"/>
            <a:ext cx="48463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8BD6AE"/>
                </a:solidFill>
                <a:latin typeface="Aptos"/>
              </a:defRPr>
            </a:pPr>
            <a:r>
              <a:t>VALIDATION_ERROR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5687568"/>
            <a:ext cx="4846320" cy="-640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F5F7F1"/>
                </a:solidFill>
                <a:latin typeface="Aptos"/>
              </a:defRPr>
            </a:pPr>
            <a:r>
              <a:t>Identify fields needing correction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27080" y="228600"/>
            <a:ext cx="502920" cy="502920"/>
          </a:xfrm>
          <a:prstGeom prst="ellipse">
            <a:avLst/>
          </a:prstGeom>
          <a:solidFill>
            <a:srgbClr val="213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84280" y="658368"/>
            <a:ext cx="228600" cy="228600"/>
          </a:xfrm>
          <a:prstGeom prst="ellipse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868680"/>
            <a:ext cx="164592" cy="164592"/>
          </a:xfrm>
          <a:prstGeom prst="ellipse">
            <a:avLst/>
          </a:prstGeom>
          <a:solidFill>
            <a:srgbClr val="E0B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7C6BB"/>
                </a:solidFill>
                <a:latin typeface="Aptos"/>
              </a:defRPr>
            </a:pPr>
            <a:r>
              <a:t>EMPLOYEE MANAGEMENT SYSTEM  •  ARCHITECTURE &amp; WORKFLOW                                      09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8BD6AE"/>
                </a:solidFill>
                <a:latin typeface="Aptos"/>
              </a:defRPr>
            </a:pPr>
            <a:r>
              <a:t>08  |  REST API Reference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32688"/>
            <a:ext cx="106984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7C6BB"/>
                </a:solidFill>
                <a:latin typeface="Aptos"/>
              </a:defRPr>
            </a:pPr>
            <a:r>
              <a:t>Public authentication endpoints and protected employee operations.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508760"/>
            <a:ext cx="1161288" cy="438912"/>
          </a:xfrm>
          <a:prstGeom prst="roundRect">
            <a:avLst/>
          </a:prstGeom>
          <a:solidFill>
            <a:srgbClr val="213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8BD6AE"/>
                </a:solidFill>
              </a:defRPr>
            </a:pPr>
            <a:r>
              <a:t>METHOD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1508760"/>
            <a:ext cx="2670048" cy="438912"/>
          </a:xfrm>
          <a:prstGeom prst="roundRect">
            <a:avLst/>
          </a:prstGeom>
          <a:solidFill>
            <a:srgbClr val="213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8BD6AE"/>
                </a:solidFill>
              </a:defRPr>
            </a:pPr>
            <a:r>
              <a:t>ENDPOINT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508760"/>
            <a:ext cx="1527048" cy="438912"/>
          </a:xfrm>
          <a:prstGeom prst="roundRect">
            <a:avLst/>
          </a:prstGeom>
          <a:solidFill>
            <a:srgbClr val="213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8BD6AE"/>
                </a:solidFill>
              </a:defRPr>
            </a:pPr>
            <a:r>
              <a:t>AUTH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321808" cy="438912"/>
          </a:xfrm>
          <a:prstGeom prst="roundRect">
            <a:avLst/>
          </a:prstGeom>
          <a:solidFill>
            <a:srgbClr val="213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8BD6AE"/>
                </a:solidFill>
              </a:defRPr>
            </a:pPr>
            <a:r>
              <a:t>PURPOSE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039112"/>
            <a:ext cx="1161288" cy="484632"/>
          </a:xfrm>
          <a:prstGeom prst="roundRect">
            <a:avLst/>
          </a:prstGeom>
          <a:solidFill>
            <a:srgbClr val="19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36576"/>
          <a:lstStyle/>
          <a:p>
            <a:pPr algn="ctr">
              <a:defRPr sz="950" b="1">
                <a:solidFill>
                  <a:srgbClr val="8BD6AE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2039112"/>
            <a:ext cx="2670048" cy="484632"/>
          </a:xfrm>
          <a:prstGeom prst="roundRect">
            <a:avLst/>
          </a:prstGeom>
          <a:solidFill>
            <a:srgbClr val="19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36576"/>
          <a:lstStyle/>
          <a:p>
            <a:pPr algn="ctr">
              <a:defRPr sz="1000" b="0">
                <a:solidFill>
                  <a:srgbClr val="F5F7F1"/>
                </a:solidFill>
                <a:latin typeface="Aptos"/>
              </a:defRPr>
            </a:pPr>
            <a:r>
              <a:t>/auth/register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2039112"/>
            <a:ext cx="1527048" cy="484632"/>
          </a:xfrm>
          <a:prstGeom prst="roundRect">
            <a:avLst/>
          </a:prstGeom>
          <a:solidFill>
            <a:srgbClr val="19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36576"/>
          <a:lstStyle/>
          <a:p>
            <a:pPr algn="ctr">
              <a:defRPr sz="950" b="0">
                <a:solidFill>
                  <a:srgbClr val="F5F7F1"/>
                </a:solidFill>
                <a:latin typeface="Aptos"/>
              </a:defRPr>
            </a:pPr>
            <a:r>
              <a:t>Public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039112"/>
            <a:ext cx="5321808" cy="484632"/>
          </a:xfrm>
          <a:prstGeom prst="roundRect">
            <a:avLst/>
          </a:prstGeom>
          <a:solidFill>
            <a:srgbClr val="19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36576"/>
          <a:lstStyle/>
          <a:p>
            <a:pPr algn="ctr">
              <a:defRPr sz="1000" b="0">
                <a:solidFill>
                  <a:srgbClr val="F5F7F1"/>
                </a:solidFill>
                <a:latin typeface="Aptos"/>
              </a:defRPr>
            </a:pPr>
            <a:r>
              <a:t>Create tenant account; BCrypt password hash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615184"/>
            <a:ext cx="1161288" cy="484632"/>
          </a:xfrm>
          <a:prstGeom prst="roundRect">
            <a:avLst/>
          </a:prstGeom>
          <a:solidFill>
            <a:srgbClr val="213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36576"/>
          <a:lstStyle/>
          <a:p>
            <a:pPr algn="ctr">
              <a:defRPr sz="950" b="1">
                <a:solidFill>
                  <a:srgbClr val="E0BE77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0240" y="2615184"/>
            <a:ext cx="2670048" cy="484632"/>
          </a:xfrm>
          <a:prstGeom prst="roundRect">
            <a:avLst/>
          </a:prstGeom>
          <a:solidFill>
            <a:srgbClr val="213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36576"/>
          <a:lstStyle/>
          <a:p>
            <a:pPr algn="ctr">
              <a:defRPr sz="1000" b="0">
                <a:solidFill>
                  <a:srgbClr val="F5F7F1"/>
                </a:solidFill>
                <a:latin typeface="Aptos"/>
              </a:defRPr>
            </a:pPr>
            <a:r>
              <a:t>/auth/login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2615184"/>
            <a:ext cx="1527048" cy="484632"/>
          </a:xfrm>
          <a:prstGeom prst="roundRect">
            <a:avLst/>
          </a:prstGeom>
          <a:solidFill>
            <a:srgbClr val="213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36576"/>
          <a:lstStyle/>
          <a:p>
            <a:pPr algn="ctr">
              <a:defRPr sz="950" b="0">
                <a:solidFill>
                  <a:srgbClr val="F5F7F1"/>
                </a:solidFill>
                <a:latin typeface="Aptos"/>
              </a:defRPr>
            </a:pPr>
            <a:r>
              <a:t>Public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615184"/>
            <a:ext cx="5321808" cy="484632"/>
          </a:xfrm>
          <a:prstGeom prst="roundRect">
            <a:avLst/>
          </a:prstGeom>
          <a:solidFill>
            <a:srgbClr val="213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36576"/>
          <a:lstStyle/>
          <a:p>
            <a:pPr algn="ctr">
              <a:defRPr sz="1000" b="0">
                <a:solidFill>
                  <a:srgbClr val="F5F7F1"/>
                </a:solidFill>
                <a:latin typeface="Aptos"/>
              </a:defRPr>
            </a:pPr>
            <a:r>
              <a:t>Verify credentials; return signed JWT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191256"/>
            <a:ext cx="1161288" cy="484632"/>
          </a:xfrm>
          <a:prstGeom prst="roundRect">
            <a:avLst/>
          </a:prstGeom>
          <a:solidFill>
            <a:srgbClr val="19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36576"/>
          <a:lstStyle/>
          <a:p>
            <a:pPr algn="ctr">
              <a:defRPr sz="950" b="1">
                <a:solidFill>
                  <a:srgbClr val="81B8DB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20240" y="3191256"/>
            <a:ext cx="2670048" cy="484632"/>
          </a:xfrm>
          <a:prstGeom prst="roundRect">
            <a:avLst/>
          </a:prstGeom>
          <a:solidFill>
            <a:srgbClr val="19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36576"/>
          <a:lstStyle/>
          <a:p>
            <a:pPr algn="ctr">
              <a:defRPr sz="1000" b="0">
                <a:solidFill>
                  <a:srgbClr val="F5F7F1"/>
                </a:solidFill>
                <a:latin typeface="Aptos"/>
              </a:defRPr>
            </a:pPr>
            <a:r>
              <a:t>/employees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3191256"/>
            <a:ext cx="1527048" cy="484632"/>
          </a:xfrm>
          <a:prstGeom prst="roundRect">
            <a:avLst/>
          </a:prstGeom>
          <a:solidFill>
            <a:srgbClr val="19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36576"/>
          <a:lstStyle/>
          <a:p>
            <a:pPr algn="ctr">
              <a:defRPr sz="950" b="0">
                <a:solidFill>
                  <a:srgbClr val="F5F7F1"/>
                </a:solidFill>
                <a:latin typeface="Aptos"/>
              </a:defRPr>
            </a:pPr>
            <a:r>
              <a:t>Bearer JWT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191256"/>
            <a:ext cx="5321808" cy="484632"/>
          </a:xfrm>
          <a:prstGeom prst="roundRect">
            <a:avLst/>
          </a:prstGeom>
          <a:solidFill>
            <a:srgbClr val="19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36576"/>
          <a:lstStyle/>
          <a:p>
            <a:pPr algn="ctr">
              <a:defRPr sz="1000" b="0">
                <a:solidFill>
                  <a:srgbClr val="F5F7F1"/>
                </a:solidFill>
                <a:latin typeface="Aptos"/>
              </a:defRPr>
            </a:pPr>
            <a:r>
              <a:t>List current-company employees; role / gender filters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767328"/>
            <a:ext cx="1161288" cy="484632"/>
          </a:xfrm>
          <a:prstGeom prst="roundRect">
            <a:avLst/>
          </a:prstGeom>
          <a:solidFill>
            <a:srgbClr val="213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36576"/>
          <a:lstStyle/>
          <a:p>
            <a:pPr algn="ctr">
              <a:defRPr sz="950" b="1">
                <a:solidFill>
                  <a:srgbClr val="8BD6AE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20240" y="3767328"/>
            <a:ext cx="2670048" cy="484632"/>
          </a:xfrm>
          <a:prstGeom prst="roundRect">
            <a:avLst/>
          </a:prstGeom>
          <a:solidFill>
            <a:srgbClr val="213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36576"/>
          <a:lstStyle/>
          <a:p>
            <a:pPr algn="ctr">
              <a:defRPr sz="1000" b="0">
                <a:solidFill>
                  <a:srgbClr val="F5F7F1"/>
                </a:solidFill>
                <a:latin typeface="Aptos"/>
              </a:defRPr>
            </a:pPr>
            <a:r>
              <a:t>/employees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3767328"/>
            <a:ext cx="1527048" cy="484632"/>
          </a:xfrm>
          <a:prstGeom prst="roundRect">
            <a:avLst/>
          </a:prstGeom>
          <a:solidFill>
            <a:srgbClr val="213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36576"/>
          <a:lstStyle/>
          <a:p>
            <a:pPr algn="ctr">
              <a:defRPr sz="950" b="0">
                <a:solidFill>
                  <a:srgbClr val="F5F7F1"/>
                </a:solidFill>
                <a:latin typeface="Aptos"/>
              </a:defRPr>
            </a:pPr>
            <a:r>
              <a:t>Bearer JWT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767328"/>
            <a:ext cx="5321808" cy="484632"/>
          </a:xfrm>
          <a:prstGeom prst="roundRect">
            <a:avLst/>
          </a:prstGeom>
          <a:solidFill>
            <a:srgbClr val="213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36576"/>
          <a:lstStyle/>
          <a:p>
            <a:pPr algn="ctr">
              <a:defRPr sz="1000" b="0">
                <a:solidFill>
                  <a:srgbClr val="F5F7F1"/>
                </a:solidFill>
                <a:latin typeface="Aptos"/>
              </a:defRPr>
            </a:pPr>
            <a:r>
              <a:t>Create employee in current company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343400"/>
            <a:ext cx="1161288" cy="484632"/>
          </a:xfrm>
          <a:prstGeom prst="roundRect">
            <a:avLst/>
          </a:prstGeom>
          <a:solidFill>
            <a:srgbClr val="19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36576"/>
          <a:lstStyle/>
          <a:p>
            <a:pPr algn="ctr">
              <a:defRPr sz="950" b="1">
                <a:solidFill>
                  <a:srgbClr val="E0BE77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20240" y="4343400"/>
            <a:ext cx="2670048" cy="484632"/>
          </a:xfrm>
          <a:prstGeom prst="roundRect">
            <a:avLst/>
          </a:prstGeom>
          <a:solidFill>
            <a:srgbClr val="19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36576"/>
          <a:lstStyle/>
          <a:p>
            <a:pPr algn="ctr">
              <a:defRPr sz="1000" b="0">
                <a:solidFill>
                  <a:srgbClr val="F5F7F1"/>
                </a:solidFill>
                <a:latin typeface="Aptos"/>
              </a:defRPr>
            </a:pPr>
            <a:r>
              <a:t>/employees/{id}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63440" y="4343400"/>
            <a:ext cx="1527048" cy="484632"/>
          </a:xfrm>
          <a:prstGeom prst="roundRect">
            <a:avLst/>
          </a:prstGeom>
          <a:solidFill>
            <a:srgbClr val="19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36576"/>
          <a:lstStyle/>
          <a:p>
            <a:pPr algn="ctr">
              <a:defRPr sz="950" b="0">
                <a:solidFill>
                  <a:srgbClr val="F5F7F1"/>
                </a:solidFill>
                <a:latin typeface="Aptos"/>
              </a:defRPr>
            </a:pPr>
            <a:r>
              <a:t>Bearer JWT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4343400"/>
            <a:ext cx="5321808" cy="484632"/>
          </a:xfrm>
          <a:prstGeom prst="roundRect">
            <a:avLst/>
          </a:prstGeom>
          <a:solidFill>
            <a:srgbClr val="19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36576"/>
          <a:lstStyle/>
          <a:p>
            <a:pPr algn="ctr">
              <a:defRPr sz="1000" b="0">
                <a:solidFill>
                  <a:srgbClr val="F5F7F1"/>
                </a:solidFill>
                <a:latin typeface="Aptos"/>
              </a:defRPr>
            </a:pPr>
            <a:r>
              <a:t>Fetch one employee by ID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919472"/>
            <a:ext cx="1161288" cy="484632"/>
          </a:xfrm>
          <a:prstGeom prst="roundRect">
            <a:avLst/>
          </a:prstGeom>
          <a:solidFill>
            <a:srgbClr val="213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36576"/>
          <a:lstStyle/>
          <a:p>
            <a:pPr algn="ctr">
              <a:defRPr sz="950" b="1">
                <a:solidFill>
                  <a:srgbClr val="81B8DB"/>
                </a:solidFill>
                <a:latin typeface="Aptos"/>
              </a:defRPr>
            </a:pPr>
            <a:r>
              <a:t>PUT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20240" y="4919472"/>
            <a:ext cx="2670048" cy="484632"/>
          </a:xfrm>
          <a:prstGeom prst="roundRect">
            <a:avLst/>
          </a:prstGeom>
          <a:solidFill>
            <a:srgbClr val="213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36576"/>
          <a:lstStyle/>
          <a:p>
            <a:pPr algn="ctr">
              <a:defRPr sz="1000" b="0">
                <a:solidFill>
                  <a:srgbClr val="F5F7F1"/>
                </a:solidFill>
                <a:latin typeface="Aptos"/>
              </a:defRPr>
            </a:pPr>
            <a:r>
              <a:t>/employees/{id}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63440" y="4919472"/>
            <a:ext cx="1527048" cy="484632"/>
          </a:xfrm>
          <a:prstGeom prst="roundRect">
            <a:avLst/>
          </a:prstGeom>
          <a:solidFill>
            <a:srgbClr val="213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36576"/>
          <a:lstStyle/>
          <a:p>
            <a:pPr algn="ctr">
              <a:defRPr sz="950" b="0">
                <a:solidFill>
                  <a:srgbClr val="F5F7F1"/>
                </a:solidFill>
                <a:latin typeface="Aptos"/>
              </a:defRPr>
            </a:pPr>
            <a:r>
              <a:t>Bearer JWT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919472"/>
            <a:ext cx="5321808" cy="484632"/>
          </a:xfrm>
          <a:prstGeom prst="roundRect">
            <a:avLst/>
          </a:prstGeom>
          <a:solidFill>
            <a:srgbClr val="213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36576"/>
          <a:lstStyle/>
          <a:p>
            <a:pPr algn="ctr">
              <a:defRPr sz="1000" b="0">
                <a:solidFill>
                  <a:srgbClr val="F5F7F1"/>
                </a:solidFill>
                <a:latin typeface="Aptos"/>
              </a:defRPr>
            </a:pPr>
            <a:r>
              <a:t>Update employee within tenant boundary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5495544"/>
            <a:ext cx="1161288" cy="484632"/>
          </a:xfrm>
          <a:prstGeom prst="roundRect">
            <a:avLst/>
          </a:prstGeom>
          <a:solidFill>
            <a:srgbClr val="19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36576"/>
          <a:lstStyle/>
          <a:p>
            <a:pPr algn="ctr">
              <a:defRPr sz="950" b="1">
                <a:solidFill>
                  <a:srgbClr val="8BD6AE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20240" y="5495544"/>
            <a:ext cx="2670048" cy="484632"/>
          </a:xfrm>
          <a:prstGeom prst="roundRect">
            <a:avLst/>
          </a:prstGeom>
          <a:solidFill>
            <a:srgbClr val="19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36576"/>
          <a:lstStyle/>
          <a:p>
            <a:pPr algn="ctr">
              <a:defRPr sz="1000" b="0">
                <a:solidFill>
                  <a:srgbClr val="F5F7F1"/>
                </a:solidFill>
                <a:latin typeface="Aptos"/>
              </a:defRPr>
            </a:pPr>
            <a:r>
              <a:t>/employees/{id}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63440" y="5495544"/>
            <a:ext cx="1527048" cy="484632"/>
          </a:xfrm>
          <a:prstGeom prst="roundRect">
            <a:avLst/>
          </a:prstGeom>
          <a:solidFill>
            <a:srgbClr val="19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36576"/>
          <a:lstStyle/>
          <a:p>
            <a:pPr algn="ctr">
              <a:defRPr sz="950" b="0">
                <a:solidFill>
                  <a:srgbClr val="F5F7F1"/>
                </a:solidFill>
                <a:latin typeface="Aptos"/>
              </a:defRPr>
            </a:pPr>
            <a:r>
              <a:t>Bearer JWT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5495544"/>
            <a:ext cx="5321808" cy="484632"/>
          </a:xfrm>
          <a:prstGeom prst="roundRect">
            <a:avLst/>
          </a:prstGeom>
          <a:solidFill>
            <a:srgbClr val="19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36576"/>
          <a:lstStyle/>
          <a:p>
            <a:pPr algn="ctr">
              <a:defRPr sz="1000" b="0">
                <a:solidFill>
                  <a:srgbClr val="F5F7F1"/>
                </a:solidFill>
                <a:latin typeface="Aptos"/>
              </a:defRPr>
            </a:pPr>
            <a:r>
              <a:t>Delete employee within tenant boundary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6309360"/>
            <a:ext cx="102412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7C6BB"/>
                </a:solidFill>
                <a:latin typeface="Aptos"/>
              </a:defRPr>
            </a:pPr>
            <a:r>
              <a:t>All employee endpoints are tenant-scoped and require a valid Bearer JWT.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27080" y="228600"/>
            <a:ext cx="502920" cy="502920"/>
          </a:xfrm>
          <a:prstGeom prst="ellipse">
            <a:avLst/>
          </a:prstGeom>
          <a:solidFill>
            <a:srgbClr val="213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84280" y="658368"/>
            <a:ext cx="228600" cy="228600"/>
          </a:xfrm>
          <a:prstGeom prst="ellipse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868680"/>
            <a:ext cx="164592" cy="164592"/>
          </a:xfrm>
          <a:prstGeom prst="ellipse">
            <a:avLst/>
          </a:prstGeom>
          <a:solidFill>
            <a:srgbClr val="E0B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7C6BB"/>
                </a:solidFill>
                <a:latin typeface="Aptos"/>
              </a:defRPr>
            </a:pPr>
            <a:r>
              <a:t>EMPLOYEE MANAGEMENT SYSTEM  •  ARCHITECTURE &amp; WORKFLOW                                      10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8BD6AE"/>
                </a:solidFill>
                <a:latin typeface="Aptos"/>
              </a:defRPr>
            </a:pPr>
            <a:r>
              <a:t>09  |  Implementation Highlights &amp; Project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32688"/>
            <a:ext cx="106984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7C6BB"/>
                </a:solidFill>
                <a:latin typeface="Aptos"/>
              </a:defRPr>
            </a:pPr>
            <a:r>
              <a:t>A portfolio-ready summary of the engineering decisions.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5349240" cy="1874519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27048"/>
            <a:ext cx="50292" cy="1655063"/>
          </a:xfrm>
          <a:prstGeom prst="rect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563624"/>
            <a:ext cx="50292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8BD6AE"/>
                </a:solidFill>
                <a:latin typeface="Aptos"/>
              </a:defRPr>
            </a:pPr>
            <a:r>
              <a:t>ENGINEERING HIGHLIGHTS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1984248"/>
            <a:ext cx="5029200" cy="1216151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• Decoupled 3-tier architecture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• Company-level tenant segregation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• Stateless JWT + BCrypt security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• Client/server validation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• Human-friendly SweetAlert2 feedback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5349240" cy="1874519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527048"/>
            <a:ext cx="50292" cy="1655063"/>
          </a:xfrm>
          <a:prstGeom prst="rect">
            <a:avLst/>
          </a:prstGeom>
          <a:solidFill>
            <a:srgbClr val="E0B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63624"/>
            <a:ext cx="50292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E0BE77"/>
                </a:solidFill>
                <a:latin typeface="Aptos"/>
              </a:defRPr>
            </a:pPr>
            <a:r>
              <a:t>DEMO &amp; 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84248"/>
            <a:ext cx="5029200" cy="1216151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• Node.js unified static server + reverse proxy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• Single port :5501 for UI and API routing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• Ngrok HTTPS tunnel for remote review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• Maven Wrapper build workflow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57600"/>
            <a:ext cx="5349240" cy="141732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767328"/>
            <a:ext cx="50292" cy="1197864"/>
          </a:xfrm>
          <a:prstGeom prst="rect">
            <a:avLst/>
          </a:prstGeom>
          <a:solidFill>
            <a:srgbClr val="81B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03904"/>
            <a:ext cx="50292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81B8DB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224528"/>
            <a:ext cx="5029200" cy="7589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index / login / register / add / view HTML pages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CSS modules + logo + browser interactions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657600"/>
            <a:ext cx="5349240" cy="1417320"/>
          </a:xfrm>
          <a:prstGeom prst="roundRect">
            <a:avLst/>
          </a:prstGeom>
          <a:solidFill>
            <a:srgbClr val="192B24"/>
          </a:solidFill>
          <a:ln w="12700">
            <a:solidFill>
              <a:srgbClr val="213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767328"/>
            <a:ext cx="50292" cy="1197864"/>
          </a:xfrm>
          <a:prstGeom prst="rect">
            <a:avLst/>
          </a:prstGeom>
          <a:solidFill>
            <a:srgbClr val="8BD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803904"/>
            <a:ext cx="50292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8BD6AE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224528"/>
            <a:ext cx="5029200" cy="7589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Spring Boot app • config • controllers • JWT</a:t>
            </a:r>
          </a:p>
          <a:p>
            <a:pPr>
              <a:spcAft>
                <a:spcPts val="700"/>
              </a:spcAft>
              <a:defRPr sz="1200" b="0">
                <a:solidFill>
                  <a:srgbClr val="F5F7F1"/>
                </a:solidFill>
                <a:latin typeface="Aptos"/>
              </a:defRPr>
            </a:pPr>
            <a:r>
              <a:t>models • repositories • 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532120"/>
            <a:ext cx="1060704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5F7F1"/>
                </a:solidFill>
                <a:latin typeface="Aptos"/>
              </a:defRPr>
            </a:pPr>
            <a:r>
              <a:t>Outcome: a responsive employee directory with authenticated CRUD, isolated company data, and a low-cost remote demo path.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