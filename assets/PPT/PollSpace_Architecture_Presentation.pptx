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394960"/>
            <a:ext cx="2560320" cy="2560320"/>
          </a:xfrm>
          <a:prstGeom prst="ellipse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51560" cy="50292"/>
          </a:xfrm>
          <a:prstGeom prst="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9B0C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170432"/>
            <a:ext cx="1417320" cy="347472"/>
          </a:xfrm>
          <a:prstGeom prst="round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0E1D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713232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4800" b="1">
                <a:solidFill>
                  <a:srgbClr val="F6F3FA"/>
                </a:solidFill>
                <a:latin typeface="Aptos"/>
              </a:defRPr>
            </a:pPr>
            <a:r>
              <a:t>PollSpace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35808"/>
            <a:ext cx="66751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A46CFF"/>
                </a:solidFill>
                <a:latin typeface="Aptos"/>
              </a:defRPr>
            </a:pPr>
            <a:r>
              <a:t>Anonymous Polling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94760"/>
            <a:ext cx="630936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B9B0CA"/>
                </a:solidFill>
                <a:latin typeface="Aptos"/>
              </a:defRPr>
            </a:pPr>
            <a:r>
              <a:t>Architecture • Components • Data Flow • Security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481328"/>
            <a:ext cx="3154680" cy="109728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645920"/>
            <a:ext cx="54864" cy="768096"/>
          </a:xfrm>
          <a:prstGeom prst="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645920"/>
            <a:ext cx="2788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46CFF"/>
                </a:solidFill>
                <a:latin typeface="Aptos"/>
              </a:defRPr>
            </a:pPr>
            <a:r>
              <a:t>QUESTION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2048256"/>
            <a:ext cx="2770632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6F3FA"/>
                </a:solidFill>
                <a:latin typeface="Aptos"/>
              </a:defRPr>
            </a:pPr>
            <a:r>
              <a:t>Which feature matters most?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788920"/>
            <a:ext cx="2743200" cy="438912"/>
          </a:xfrm>
          <a:prstGeom prst="roundRect">
            <a:avLst/>
          </a:prstGeom>
          <a:solidFill>
            <a:srgbClr val="282039"/>
          </a:solidFill>
          <a:ln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2862072"/>
            <a:ext cx="1645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6F3FA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2926079"/>
            <a:ext cx="1691640" cy="118872"/>
          </a:xfrm>
          <a:prstGeom prst="round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01000" y="3447287"/>
            <a:ext cx="2743200" cy="438912"/>
          </a:xfrm>
          <a:prstGeom prst="roundRect">
            <a:avLst/>
          </a:prstGeom>
          <a:solidFill>
            <a:srgbClr val="282039"/>
          </a:solidFill>
          <a:ln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3520439"/>
            <a:ext cx="1645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6F3FA"/>
                </a:solidFill>
                <a:latin typeface="Aptos"/>
              </a:defRPr>
            </a:pPr>
            <a:r>
              <a:t>Simple UX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3584447"/>
            <a:ext cx="1234440" cy="118872"/>
          </a:xfrm>
          <a:prstGeom prst="round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1000" y="4105656"/>
            <a:ext cx="2743200" cy="438912"/>
          </a:xfrm>
          <a:prstGeom prst="roundRect">
            <a:avLst/>
          </a:prstGeom>
          <a:solidFill>
            <a:srgbClr val="282039"/>
          </a:solidFill>
          <a:ln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4178808"/>
            <a:ext cx="1645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6F3FA"/>
                </a:solidFill>
                <a:latin typeface="Aptos"/>
              </a:defRPr>
            </a:pPr>
            <a:r>
              <a:t>Fast 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4242816"/>
            <a:ext cx="1463040" cy="118872"/>
          </a:xfrm>
          <a:prstGeom prst="roundRect">
            <a:avLst/>
          </a:prstGeom>
          <a:solidFill>
            <a:srgbClr val="64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989320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9B0CA"/>
                </a:solidFill>
                <a:latin typeface="Aptos"/>
              </a:defRPr>
            </a:pPr>
            <a:r>
              <a:t>ARCHITECTURE OVERVIEW  |  10-SLIDE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394960"/>
            <a:ext cx="2560320" cy="2560320"/>
          </a:xfrm>
          <a:prstGeom prst="ellipse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51560" cy="50292"/>
          </a:xfrm>
          <a:prstGeom prst="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9B0C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2179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3FA"/>
                </a:solidFill>
                <a:latin typeface="Aptos"/>
              </a:defRPr>
            </a:pPr>
            <a:r>
              <a:t>01  |  What is PollSpace?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9B0CA"/>
                </a:solidFill>
                <a:latin typeface="Aptos"/>
              </a:defRPr>
            </a:pPr>
            <a:r>
              <a:t>An anonymous polling application built around public discovery and secret-link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429000" cy="1874519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01952"/>
            <a:ext cx="54864" cy="1545336"/>
          </a:xfrm>
          <a:prstGeom prst="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01952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46CFF"/>
                </a:solidFill>
                <a:latin typeface="Aptos"/>
              </a:defRPr>
            </a:pPr>
            <a:r>
              <a:t>PUBLIC POLLS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04288"/>
            <a:ext cx="3044952" cy="12161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3FA"/>
                </a:solidFill>
                <a:latin typeface="Aptos"/>
              </a:defRPr>
            </a:pPr>
            <a:r>
              <a:t>Discoverable and open to anyone. Users can explore polls and submit votes.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429000" cy="1874519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01952"/>
            <a:ext cx="54864" cy="1545336"/>
          </a:xfrm>
          <a:prstGeom prst="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01952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9F52"/>
                </a:solidFill>
                <a:latin typeface="Aptos"/>
              </a:defRPr>
            </a:pPr>
            <a:r>
              <a:t>PRIVATE POLLS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04288"/>
            <a:ext cx="3044952" cy="12161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3FA"/>
                </a:solidFill>
                <a:latin typeface="Aptos"/>
              </a:defRPr>
            </a:pPr>
            <a:r>
              <a:t>Reached through invite links. Browser-level voter tokens help limit repeat voting.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429000" cy="1874519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01952"/>
            <a:ext cx="54864" cy="1545336"/>
          </a:xfrm>
          <a:prstGeom prst="rect">
            <a:avLst/>
          </a:prstGeom>
          <a:solidFill>
            <a:srgbClr val="64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901952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4DCE0"/>
                </a:solidFill>
                <a:latin typeface="Aptos"/>
              </a:defRPr>
            </a:pPr>
            <a:r>
              <a:t>MANAGEMENT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304288"/>
            <a:ext cx="3044952" cy="12161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3FA"/>
                </a:solidFill>
                <a:latin typeface="Aptos"/>
              </a:defRPr>
            </a:pPr>
            <a:r>
              <a:t>Secret management keys allow poll settings, visibility changes, link rotation, and deletion.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102412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9F52"/>
                </a:solidFill>
                <a:latin typeface="Aptos"/>
              </a:defRPr>
            </a:pPr>
            <a:r>
              <a:t>Design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1005840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6F3FA"/>
                </a:solidFill>
                <a:latin typeface="Aptos"/>
              </a:defRPr>
            </a:pPr>
            <a:r>
              <a:t>Keep poll creation, voting, and management simple without requiring user accounts for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394960"/>
            <a:ext cx="2560320" cy="2560320"/>
          </a:xfrm>
          <a:prstGeom prst="ellipse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51560" cy="50292"/>
          </a:xfrm>
          <a:prstGeom prst="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9B0C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2179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3FA"/>
                </a:solidFill>
                <a:latin typeface="Aptos"/>
              </a:defRPr>
            </a:pPr>
            <a:r>
              <a:t>02  |  Application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9B0CA"/>
                </a:solidFill>
                <a:latin typeface="Aptos"/>
              </a:defRPr>
            </a:pPr>
            <a:r>
              <a:t>Three layers, with JSON REST communication between the static frontend and Spring Boot.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2926080" cy="4160520"/>
          </a:xfrm>
          <a:prstGeom prst="roundRect">
            <a:avLst/>
          </a:prstGeom>
          <a:solidFill>
            <a:srgbClr val="1F192E"/>
          </a:solidFill>
          <a:ln w="17780">
            <a:solidFill>
              <a:srgbClr val="A4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56232"/>
            <a:ext cx="2560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A46CFF"/>
                </a:solidFill>
                <a:latin typeface="Aptos"/>
              </a:defRPr>
            </a:pPr>
            <a:r>
              <a:t>CLIENT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91640"/>
            <a:ext cx="2926080" cy="4160520"/>
          </a:xfrm>
          <a:prstGeom prst="roundRect">
            <a:avLst/>
          </a:prstGeom>
          <a:solidFill>
            <a:srgbClr val="1F192E"/>
          </a:solidFill>
          <a:ln w="17780">
            <a:solidFill>
              <a:srgbClr val="FF9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856232"/>
            <a:ext cx="2560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9F52"/>
                </a:solidFill>
                <a:latin typeface="Aptos"/>
              </a:defRPr>
            </a:pPr>
            <a:r>
              <a:t>APPLICATION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7072" y="1691640"/>
            <a:ext cx="2926080" cy="4160520"/>
          </a:xfrm>
          <a:prstGeom prst="roundRect">
            <a:avLst/>
          </a:prstGeom>
          <a:solidFill>
            <a:srgbClr val="1F192E"/>
          </a:solidFill>
          <a:ln w="17780">
            <a:solidFill>
              <a:srgbClr val="64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856232"/>
            <a:ext cx="2560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64DCE0"/>
                </a:solidFill>
                <a:latin typeface="Aptos"/>
              </a:defRPr>
            </a:pPr>
            <a:r>
              <a:t>PERSISTENCE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331720"/>
            <a:ext cx="2240280" cy="658368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A4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300" b="1">
                <a:solidFill>
                  <a:srgbClr val="F6F3FA"/>
                </a:solidFill>
                <a:latin typeface="Aptos"/>
              </a:defRPr>
            </a:pPr>
            <a:r>
              <a:t>Web Browser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310128"/>
            <a:ext cx="2240280" cy="749808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A4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200" b="1">
                <a:solidFill>
                  <a:srgbClr val="F6F3FA"/>
                </a:solidFill>
                <a:latin typeface="Aptos"/>
              </a:defRPr>
            </a:pPr>
            <a:r>
              <a:t>Static HTML / CSS /</a:t>
            </a:r>
            <a:br/>
            <a:r>
              <a:t>JavaScript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07408"/>
            <a:ext cx="2240280" cy="658368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A4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200" b="1">
                <a:solidFill>
                  <a:srgbClr val="F6F3FA"/>
                </a:solidFill>
                <a:latin typeface="Aptos"/>
              </a:defRPr>
            </a:pPr>
            <a:r>
              <a:t>Browser Local 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6048" y="2331720"/>
            <a:ext cx="2240280" cy="658368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FF9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200" b="1">
                <a:solidFill>
                  <a:srgbClr val="F6F3FA"/>
                </a:solidFill>
                <a:latin typeface="Aptos"/>
              </a:defRPr>
            </a:pPr>
            <a:r>
              <a:t>Spring MVC REST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56048" y="3310128"/>
            <a:ext cx="2240280" cy="749808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FF9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200" b="1">
                <a:solidFill>
                  <a:srgbClr val="F6F3FA"/>
                </a:solidFill>
                <a:latin typeface="Aptos"/>
              </a:defRPr>
            </a:pPr>
            <a:r>
              <a:t>Poll + Token 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6048" y="4407408"/>
            <a:ext cx="2240280" cy="658368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FF9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200" b="1">
                <a:solidFill>
                  <a:srgbClr val="F6F3FA"/>
                </a:solidFill>
                <a:latin typeface="Aptos"/>
              </a:defRPr>
            </a:pPr>
            <a:r>
              <a:t>CORS Configuration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331720"/>
            <a:ext cx="2240280" cy="658368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64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200" b="1">
                <a:solidFill>
                  <a:srgbClr val="F6F3FA"/>
                </a:solidFill>
                <a:latin typeface="Aptos"/>
              </a:defRPr>
            </a:pPr>
            <a:r>
              <a:t>Spring Data JPA /</a:t>
            </a:r>
            <a:br/>
            <a:r>
              <a:t>Hibernate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3310128"/>
            <a:ext cx="2240280" cy="749808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64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200" b="1">
                <a:solidFill>
                  <a:srgbClr val="F6F3FA"/>
                </a:solidFill>
                <a:latin typeface="Aptos"/>
              </a:defRPr>
            </a:pPr>
            <a:r>
              <a:t>MySQL Polls + Options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4407408"/>
            <a:ext cx="2240280" cy="658368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64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200" b="1">
                <a:solidFill>
                  <a:srgbClr val="F6F3FA"/>
                </a:solidFill>
                <a:latin typeface="Aptos"/>
              </a:defRPr>
            </a:pPr>
            <a:r>
              <a:t>Private Poll Votes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246120" y="2670048"/>
            <a:ext cx="1709928" cy="969264"/>
          </a:xfrm>
          <a:prstGeom prst="line">
            <a:avLst/>
          </a:prstGeom>
          <a:ln w="22860">
            <a:solidFill>
              <a:srgbClr val="FF9F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96328" y="2670048"/>
            <a:ext cx="1719072" cy="0"/>
          </a:xfrm>
          <a:prstGeom prst="line">
            <a:avLst/>
          </a:prstGeom>
          <a:ln w="22860">
            <a:solidFill>
              <a:srgbClr val="64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96328" y="3685032"/>
            <a:ext cx="1719072" cy="0"/>
          </a:xfrm>
          <a:prstGeom prst="line">
            <a:avLst/>
          </a:prstGeom>
          <a:ln w="22860">
            <a:solidFill>
              <a:srgbClr val="64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21408" y="3968496"/>
            <a:ext cx="0" cy="438912"/>
          </a:xfrm>
          <a:prstGeom prst="line">
            <a:avLst/>
          </a:prstGeom>
          <a:ln w="22860">
            <a:solidFill>
              <a:srgbClr val="A46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5532120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9B0CA"/>
                </a:solidFill>
                <a:latin typeface="Aptos"/>
              </a:defRPr>
            </a:pPr>
            <a:r>
              <a:t>Browser UI  →  REST API  →  Services  →  JPA  →  MySQL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394960"/>
            <a:ext cx="2560320" cy="2560320"/>
          </a:xfrm>
          <a:prstGeom prst="ellipse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51560" cy="50292"/>
          </a:xfrm>
          <a:prstGeom prst="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9B0C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2179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3FA"/>
                </a:solidFill>
                <a:latin typeface="Aptos"/>
              </a:defRPr>
            </a:pPr>
            <a:r>
              <a:t>03  |  Client &amp;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9B0CA"/>
                </a:solidFill>
                <a:latin typeface="Aptos"/>
              </a:defRPr>
            </a:pPr>
            <a:r>
              <a:t>Static browser pages keep the presentation layer lightweight and separate from backend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29000" cy="196596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01952"/>
            <a:ext cx="54864" cy="1636776"/>
          </a:xfrm>
          <a:prstGeom prst="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46CFF"/>
                </a:solidFill>
                <a:latin typeface="Aptos"/>
              </a:defRPr>
            </a:pPr>
            <a:r>
              <a:t>CREATE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04288"/>
            <a:ext cx="3044952" cy="1307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6F3FA"/>
                </a:solidFill>
                <a:latin typeface="Aptos"/>
              </a:defRPr>
            </a:pPr>
            <a:r>
              <a:t>Submits a public or private poll and shows generated invite and management links.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429000" cy="196596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01952"/>
            <a:ext cx="54864" cy="1636776"/>
          </a:xfrm>
          <a:prstGeom prst="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01952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9F52"/>
                </a:solidFill>
                <a:latin typeface="Aptos"/>
              </a:defRPr>
            </a:pPr>
            <a:r>
              <a:t>EXPLORE &amp; VOTE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04288"/>
            <a:ext cx="3044952" cy="1307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6F3FA"/>
                </a:solidFill>
                <a:latin typeface="Aptos"/>
              </a:defRPr>
            </a:pPr>
            <a:r>
              <a:t>Lists public polls, opens invite-only polls, submits votes, and displays permitted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429000" cy="196596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01952"/>
            <a:ext cx="54864" cy="1636776"/>
          </a:xfrm>
          <a:prstGeom prst="rect">
            <a:avLst/>
          </a:prstGeom>
          <a:solidFill>
            <a:srgbClr val="64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01952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4DCE0"/>
                </a:solidFill>
                <a:latin typeface="Aptos"/>
              </a:defRPr>
            </a:pPr>
            <a:r>
              <a:t>MANAGE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04288"/>
            <a:ext cx="3044952" cy="1307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6F3FA"/>
                </a:solidFill>
                <a:latin typeface="Aptos"/>
              </a:defRPr>
            </a:pPr>
            <a:r>
              <a:t>Uses the management key to view settings, switch visibility, rotate links, or delete a poll.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343400"/>
            <a:ext cx="1920240" cy="347472"/>
          </a:xfrm>
          <a:prstGeom prst="round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0E1D"/>
                </a:solidFill>
                <a:latin typeface="Aptos"/>
              </a:defRPr>
            </a:pPr>
            <a:r>
              <a:t>HTML + CSS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343400"/>
            <a:ext cx="2148840" cy="347472"/>
          </a:xfrm>
          <a:prstGeom prst="round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0E1D"/>
                </a:solidFill>
                <a:latin typeface="Aptos"/>
              </a:defRPr>
            </a:pPr>
            <a:r>
              <a:t>VANILLA JS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4343400"/>
            <a:ext cx="2240280" cy="347472"/>
          </a:xfrm>
          <a:prstGeom prst="roundRect">
            <a:avLst/>
          </a:prstGeom>
          <a:solidFill>
            <a:srgbClr val="64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0E1D"/>
                </a:solidFill>
                <a:latin typeface="Aptos"/>
              </a:defRPr>
            </a:pPr>
            <a:r>
              <a:t>LOCAL 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4343400"/>
            <a:ext cx="2514600" cy="347472"/>
          </a:xfrm>
          <a:prstGeom prst="roundRect">
            <a:avLst/>
          </a:prstGeom>
          <a:solidFill>
            <a:srgbClr val="FF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0E1D"/>
                </a:solidFill>
                <a:latin typeface="Aptos"/>
              </a:defRPr>
            </a:pPr>
            <a:r>
              <a:t>WEB CRYPTO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9875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6F3FA"/>
                </a:solidFill>
                <a:latin typeface="Aptos"/>
              </a:defRPr>
            </a:pPr>
            <a:r>
              <a:t>The browser stores a random private-voter token locally and reuses it for the matching invite link.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394960"/>
            <a:ext cx="2560320" cy="2560320"/>
          </a:xfrm>
          <a:prstGeom prst="ellipse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51560" cy="50292"/>
          </a:xfrm>
          <a:prstGeom prst="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9B0C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2179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3FA"/>
                </a:solidFill>
                <a:latin typeface="Aptos"/>
              </a:defRPr>
            </a:pPr>
            <a:r>
              <a:t>04  |  Backend &amp; HTTP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9B0CA"/>
                </a:solidFill>
                <a:latin typeface="Aptos"/>
              </a:defRPr>
            </a:pPr>
            <a:r>
              <a:t>Spring Boot 3.4.5 exposes the poll workflows under the /polls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03120" cy="91440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A4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400" b="1">
                <a:solidFill>
                  <a:srgbClr val="F6F3FA"/>
                </a:solidFill>
                <a:latin typeface="Aptos"/>
              </a:defRPr>
            </a:pPr>
            <a:r>
              <a:t>PollController</a:t>
            </a:r>
            <a:br/>
            <a:r>
              <a:t>REST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920240"/>
            <a:ext cx="2103120" cy="91440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FF9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400" b="1">
                <a:solidFill>
                  <a:srgbClr val="F6F3FA"/>
                </a:solidFill>
                <a:latin typeface="Aptos"/>
              </a:defRPr>
            </a:pPr>
            <a:r>
              <a:t>PollService</a:t>
            </a:r>
            <a:br/>
            <a:r>
              <a:t>Business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920240"/>
            <a:ext cx="2103120" cy="91440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64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300" b="1">
                <a:solidFill>
                  <a:srgbClr val="F6F3FA"/>
                </a:solidFill>
                <a:latin typeface="Aptos"/>
              </a:defRPr>
            </a:pPr>
            <a:r>
              <a:t>PollTokenService</a:t>
            </a:r>
            <a:br/>
            <a:r>
              <a:t>Token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920240"/>
            <a:ext cx="2103120" cy="91440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FF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400" b="1">
                <a:solidFill>
                  <a:srgbClr val="F6F3FA"/>
                </a:solidFill>
                <a:latin typeface="Aptos"/>
              </a:defRPr>
            </a:pPr>
            <a:r>
              <a:t>Repositories</a:t>
            </a:r>
            <a:br/>
            <a:r>
              <a:t>Data access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2377440"/>
            <a:ext cx="685800" cy="0"/>
          </a:xfrm>
          <a:prstGeom prst="line">
            <a:avLst/>
          </a:prstGeom>
          <a:ln w="22860">
            <a:solidFill>
              <a:srgbClr val="FF9F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60720" y="2377440"/>
            <a:ext cx="685800" cy="0"/>
          </a:xfrm>
          <a:prstGeom prst="line">
            <a:avLst/>
          </a:prstGeom>
          <a:ln w="22860">
            <a:solidFill>
              <a:srgbClr val="64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49640" y="2377440"/>
            <a:ext cx="685800" cy="0"/>
          </a:xfrm>
          <a:prstGeom prst="line">
            <a:avLst/>
          </a:prstGeom>
          <a:ln w="22860">
            <a:solidFill>
              <a:srgbClr val="FF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3657600"/>
            <a:ext cx="3063240" cy="141732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822191"/>
            <a:ext cx="54864" cy="1088136"/>
          </a:xfrm>
          <a:prstGeom prst="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822191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46CFF"/>
                </a:solidFill>
                <a:latin typeface="Aptos"/>
              </a:defRPr>
            </a:pPr>
            <a:r>
              <a:t>WebConfig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224528"/>
            <a:ext cx="2679192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6F3FA"/>
                </a:solidFill>
                <a:latin typeface="Aptos"/>
              </a:defRPr>
            </a:pPr>
            <a:r>
              <a:t>Configures CORS for frontend development origins.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657600"/>
            <a:ext cx="3063240" cy="141732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3822191"/>
            <a:ext cx="54864" cy="1088136"/>
          </a:xfrm>
          <a:prstGeom prst="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3822191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9F52"/>
                </a:solidFill>
                <a:latin typeface="Aptos"/>
              </a:defRPr>
            </a:pPr>
            <a:r>
              <a:t>Exception Handler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224528"/>
            <a:ext cx="2679192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6F3FA"/>
                </a:solidFill>
                <a:latin typeface="Aptos"/>
              </a:defRPr>
            </a:pPr>
            <a:r>
              <a:t>Converts ResponseStatusException values into JSON errors.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657600"/>
            <a:ext cx="3063240" cy="141732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822191"/>
            <a:ext cx="54864" cy="1088136"/>
          </a:xfrm>
          <a:prstGeom prst="rect">
            <a:avLst/>
          </a:prstGeom>
          <a:solidFill>
            <a:srgbClr val="64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8" y="3822191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4DCE0"/>
                </a:solidFill>
                <a:latin typeface="Aptos"/>
              </a:defRPr>
            </a:pPr>
            <a:r>
              <a:t>LegacyPollCleanup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4224528"/>
            <a:ext cx="2679192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6F3FA"/>
                </a:solidFill>
                <a:latin typeface="Aptos"/>
              </a:defRPr>
            </a:pPr>
            <a:r>
              <a:t>At startup, removes legacy polls without management-token hashes.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53212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B9B0CA"/>
                </a:solidFill>
                <a:latin typeface="Aptos"/>
              </a:defRPr>
            </a:pPr>
            <a:r>
              <a:t>Runtime: Java 21  •  Build: Apache Maven wrapper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394960"/>
            <a:ext cx="2560320" cy="2560320"/>
          </a:xfrm>
          <a:prstGeom prst="ellipse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51560" cy="50292"/>
          </a:xfrm>
          <a:prstGeom prst="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9B0C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2179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3FA"/>
                </a:solidFill>
                <a:latin typeface="Aptos"/>
              </a:defRPr>
            </a:pPr>
            <a:r>
              <a:t>05  |  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9B0CA"/>
                </a:solidFill>
                <a:latin typeface="Aptos"/>
              </a:defRPr>
            </a:pPr>
            <a:r>
              <a:t>The stack combines browser-native UI, Java services, ORM persistence, and a relational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72768"/>
            <a:ext cx="10652760" cy="566928"/>
          </a:xfrm>
          <a:prstGeom prst="roundRect">
            <a:avLst/>
          </a:prstGeom>
          <a:solidFill>
            <a:srgbClr val="1F192E"/>
          </a:solidFill>
          <a:ln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82495"/>
            <a:ext cx="1417320" cy="347472"/>
          </a:xfrm>
          <a:prstGeom prst="round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0E1D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91640"/>
            <a:ext cx="37947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6F3FA"/>
                </a:solidFill>
                <a:latin typeface="Aptos"/>
              </a:defRPr>
            </a:pPr>
            <a:r>
              <a:t>HTML • CSS • Vanilla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4617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9B0CA"/>
                </a:solidFill>
                <a:latin typeface="Aptos"/>
              </a:defRPr>
            </a:pPr>
            <a:r>
              <a:t>Static create, explore, vote, and manage screens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86000"/>
            <a:ext cx="10652760" cy="566928"/>
          </a:xfrm>
          <a:prstGeom prst="roundRect">
            <a:avLst/>
          </a:prstGeom>
          <a:solidFill>
            <a:srgbClr val="1F192E"/>
          </a:solidFill>
          <a:ln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395728"/>
            <a:ext cx="1417320" cy="347472"/>
          </a:xfrm>
          <a:prstGeom prst="round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0E1D"/>
                </a:solidFill>
                <a:latin typeface="Aptos"/>
              </a:defRPr>
            </a:pPr>
            <a:r>
              <a:t>BROWSER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404872"/>
            <a:ext cx="37947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6F3FA"/>
                </a:solidFill>
                <a:latin typeface="Aptos"/>
              </a:defRPr>
            </a:pPr>
            <a:r>
              <a:t>Local Storage • Web Crypto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04872"/>
            <a:ext cx="4617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9B0CA"/>
                </a:solidFill>
                <a:latin typeface="Aptos"/>
              </a:defRPr>
            </a:pPr>
            <a:r>
              <a:t>Retains random private-voter token per invite link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999232"/>
            <a:ext cx="10652760" cy="566928"/>
          </a:xfrm>
          <a:prstGeom prst="roundRect">
            <a:avLst/>
          </a:prstGeom>
          <a:solidFill>
            <a:srgbClr val="1F192E"/>
          </a:solidFill>
          <a:ln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108960"/>
            <a:ext cx="1417320" cy="347472"/>
          </a:xfrm>
          <a:prstGeom prst="roundRect">
            <a:avLst/>
          </a:prstGeom>
          <a:solidFill>
            <a:srgbClr val="64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0E1D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118104"/>
            <a:ext cx="37947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6F3FA"/>
                </a:solidFill>
                <a:latin typeface="Aptos"/>
              </a:defRPr>
            </a:pPr>
            <a:r>
              <a:t>Java 21 • Spring Boot 3.4.5 • Spring MVC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18104"/>
            <a:ext cx="4617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9B0CA"/>
                </a:solidFill>
                <a:latin typeface="Aptos"/>
              </a:defRPr>
            </a:pPr>
            <a:r>
              <a:t>REST endpoints and application configuration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12463"/>
            <a:ext cx="10652760" cy="566928"/>
          </a:xfrm>
          <a:prstGeom prst="roundRect">
            <a:avLst/>
          </a:prstGeom>
          <a:solidFill>
            <a:srgbClr val="1F192E"/>
          </a:solidFill>
          <a:ln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" y="3822191"/>
            <a:ext cx="1417320" cy="347472"/>
          </a:xfrm>
          <a:prstGeom prst="roundRect">
            <a:avLst/>
          </a:prstGeom>
          <a:solidFill>
            <a:srgbClr val="FF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0E1D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831335"/>
            <a:ext cx="37947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6F3FA"/>
                </a:solidFill>
                <a:latin typeface="Aptos"/>
              </a:defRPr>
            </a:pPr>
            <a:r>
              <a:t>Spring Data JPA • Hibernate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31335"/>
            <a:ext cx="4617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9B0CA"/>
                </a:solidFill>
                <a:latin typeface="Aptos"/>
              </a:defRPr>
            </a:pPr>
            <a:r>
              <a:t>Maps application entities to relational tables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425696"/>
            <a:ext cx="10652760" cy="566928"/>
          </a:xfrm>
          <a:prstGeom prst="roundRect">
            <a:avLst/>
          </a:prstGeom>
          <a:solidFill>
            <a:srgbClr val="1F192E"/>
          </a:solidFill>
          <a:ln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4535424"/>
            <a:ext cx="1417320" cy="347472"/>
          </a:xfrm>
          <a:prstGeom prst="roundRect">
            <a:avLst/>
          </a:prstGeom>
          <a:solidFill>
            <a:srgbClr val="7C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0E1D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544568"/>
            <a:ext cx="37947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6F3FA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544568"/>
            <a:ext cx="4617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9B0CA"/>
                </a:solidFill>
                <a:latin typeface="Aptos"/>
              </a:defRPr>
            </a:pPr>
            <a:r>
              <a:t>Stores polls, options, and private vote records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138928"/>
            <a:ext cx="10652760" cy="566928"/>
          </a:xfrm>
          <a:prstGeom prst="roundRect">
            <a:avLst/>
          </a:prstGeom>
          <a:solidFill>
            <a:srgbClr val="1F192E"/>
          </a:solidFill>
          <a:ln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" y="5248656"/>
            <a:ext cx="1417320" cy="347472"/>
          </a:xfrm>
          <a:prstGeom prst="round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0E1D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5257800"/>
            <a:ext cx="37947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6F3FA"/>
                </a:solidFill>
                <a:latin typeface="Aptos"/>
              </a:defRPr>
            </a:pPr>
            <a:r>
              <a:t>Apache Maven wrapper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257800"/>
            <a:ext cx="4617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9B0CA"/>
                </a:solidFill>
                <a:latin typeface="Aptos"/>
              </a:defRPr>
            </a:pPr>
            <a:r>
              <a:t>Dependency resolution and backend 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394960"/>
            <a:ext cx="2560320" cy="2560320"/>
          </a:xfrm>
          <a:prstGeom prst="ellipse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51560" cy="50292"/>
          </a:xfrm>
          <a:prstGeom prst="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9B0C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2179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3FA"/>
                </a:solidFill>
                <a:latin typeface="Aptos"/>
              </a:defRPr>
            </a:pPr>
            <a:r>
              <a:t>06  |  Component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9B0CA"/>
                </a:solidFill>
                <a:latin typeface="Aptos"/>
              </a:defRPr>
            </a:pPr>
            <a:r>
              <a:t>The request path moves from presentation pages through the controller and service layer to repositories.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286000" cy="4160520"/>
          </a:xfrm>
          <a:prstGeom prst="roundRect">
            <a:avLst/>
          </a:prstGeom>
          <a:solidFill>
            <a:srgbClr val="1F192E"/>
          </a:solidFill>
          <a:ln w="15240">
            <a:solidFill>
              <a:srgbClr val="A4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90195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A46CFF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423160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A4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Create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3136391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A4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Explore &amp; vote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" y="3849624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A4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Manage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" y="4562856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A4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Local 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737360"/>
            <a:ext cx="2286000" cy="4160520"/>
          </a:xfrm>
          <a:prstGeom prst="roundRect">
            <a:avLst/>
          </a:prstGeom>
          <a:solidFill>
            <a:srgbClr val="1F192E"/>
          </a:solidFill>
          <a:ln w="15240">
            <a:solidFill>
              <a:srgbClr val="FF9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90195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9F52"/>
                </a:solidFill>
                <a:latin typeface="Aptos"/>
              </a:defRPr>
            </a:pPr>
            <a:r>
              <a:t>HTTP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423160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FF9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PollController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136391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FF9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WebConfig / CORS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3849624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FF9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API error handler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2286000" cy="4160520"/>
          </a:xfrm>
          <a:prstGeom prst="roundRect">
            <a:avLst/>
          </a:prstGeom>
          <a:solidFill>
            <a:srgbClr val="1F192E"/>
          </a:solidFill>
          <a:ln w="15240">
            <a:solidFill>
              <a:srgbClr val="64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64DCE0"/>
                </a:solidFill>
                <a:latin typeface="Aptos"/>
              </a:defRPr>
            </a:pPr>
            <a:r>
              <a:t>BUSINESS LOGIC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423160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64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PollService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136391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64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PollTokenService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849624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64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LegacyPollCleanup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737360"/>
            <a:ext cx="2286000" cy="4160520"/>
          </a:xfrm>
          <a:prstGeom prst="roundRect">
            <a:avLst/>
          </a:prstGeom>
          <a:solidFill>
            <a:srgbClr val="1F192E"/>
          </a:solidFill>
          <a:ln w="15240">
            <a:solidFill>
              <a:srgbClr val="FF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90195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73A8"/>
                </a:solidFill>
                <a:latin typeface="Aptos"/>
              </a:defRPr>
            </a:pPr>
            <a:r>
              <a:t>DATA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2423160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FF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PollRepo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3136391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FF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PollVoteRepo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3849624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FF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Poll / VoteOption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4562856"/>
            <a:ext cx="1920240" cy="5029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FF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100" b="1">
                <a:solidFill>
                  <a:srgbClr val="F6F3FA"/>
                </a:solidFill>
                <a:latin typeface="Aptos"/>
              </a:defRPr>
            </a:pPr>
            <a:r>
              <a:t>PollVote → MySQL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926080" y="3657600"/>
            <a:ext cx="594360" cy="0"/>
          </a:xfrm>
          <a:prstGeom prst="line">
            <a:avLst/>
          </a:prstGeom>
          <a:ln w="20320">
            <a:solidFill>
              <a:srgbClr val="FF9F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06440" y="3657600"/>
            <a:ext cx="594360" cy="0"/>
          </a:xfrm>
          <a:prstGeom prst="line">
            <a:avLst/>
          </a:prstGeom>
          <a:ln w="20320">
            <a:solidFill>
              <a:srgbClr val="FF9F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686800" y="3657600"/>
            <a:ext cx="594360" cy="0"/>
          </a:xfrm>
          <a:prstGeom prst="line">
            <a:avLst/>
          </a:prstGeom>
          <a:ln w="20320">
            <a:solidFill>
              <a:srgbClr val="FF9F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2960" y="6053328"/>
            <a:ext cx="105156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B9B0CA"/>
                </a:solidFill>
                <a:latin typeface="Aptos"/>
              </a:defRPr>
            </a:pPr>
            <a:r>
              <a:t>Cross-cutting behavior: CORS configuration and structured JSON error responses.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394960"/>
            <a:ext cx="2560320" cy="2560320"/>
          </a:xfrm>
          <a:prstGeom prst="ellipse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51560" cy="50292"/>
          </a:xfrm>
          <a:prstGeom prst="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9B0C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2179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3FA"/>
                </a:solidFill>
                <a:latin typeface="Aptos"/>
              </a:defRPr>
            </a:pPr>
            <a:r>
              <a:t>07  |  Data Storage &amp;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9B0CA"/>
                </a:solidFill>
                <a:latin typeface="Aptos"/>
              </a:defRPr>
            </a:pPr>
            <a:r>
              <a:t>MySQL database: pollapp • Spring Data JPA • Hibernate schema updates enabled.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383280" cy="182880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01952"/>
            <a:ext cx="54864" cy="1499616"/>
          </a:xfrm>
          <a:prstGeom prst="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0195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46CFF"/>
                </a:solidFill>
                <a:latin typeface="Aptos"/>
              </a:defRPr>
            </a:pPr>
            <a:r>
              <a:t>POLL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04288"/>
            <a:ext cx="2999232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6F3FA"/>
                </a:solidFill>
                <a:latin typeface="Aptos"/>
              </a:defRPr>
            </a:pPr>
            <a:r>
              <a:t>Questions, visibility settings, vote caps, and hashes of invite and management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37360"/>
            <a:ext cx="3383280" cy="182880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01952"/>
            <a:ext cx="54864" cy="1499616"/>
          </a:xfrm>
          <a:prstGeom prst="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90195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9F52"/>
                </a:solidFill>
                <a:latin typeface="Aptos"/>
              </a:defRPr>
            </a:pPr>
            <a:r>
              <a:t>PUBLIC 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304288"/>
            <a:ext cx="2999232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6F3FA"/>
                </a:solidFill>
                <a:latin typeface="Aptos"/>
              </a:defRPr>
            </a:pPr>
            <a:r>
              <a:t>Public vote counts are stored on poll options.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383280" cy="182880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01952"/>
            <a:ext cx="54864" cy="1499616"/>
          </a:xfrm>
          <a:prstGeom prst="rect">
            <a:avLst/>
          </a:prstGeom>
          <a:solidFill>
            <a:srgbClr val="64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90195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4DCE0"/>
                </a:solidFill>
                <a:latin typeface="Aptos"/>
              </a:defRPr>
            </a:pPr>
            <a:r>
              <a:t>PRIVATE VOTES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304288"/>
            <a:ext cx="2999232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6F3FA"/>
                </a:solidFill>
                <a:latin typeface="Aptos"/>
              </a:defRPr>
            </a:pPr>
            <a:r>
              <a:t>Separate table stores voter-token hash and selected option index.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251960"/>
            <a:ext cx="2423160" cy="7315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A4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300" b="1">
                <a:solidFill>
                  <a:srgbClr val="F6F3FA"/>
                </a:solidFill>
                <a:latin typeface="Aptos"/>
              </a:defRPr>
            </a:pPr>
            <a:r>
              <a:t>Poll + VoteOption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251960"/>
            <a:ext cx="2423160" cy="7315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FF9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300" b="1">
                <a:solidFill>
                  <a:srgbClr val="F6F3FA"/>
                </a:solidFill>
                <a:latin typeface="Aptos"/>
              </a:defRPr>
            </a:pPr>
            <a:r>
              <a:t>PollVote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251960"/>
            <a:ext cx="2423160" cy="731520"/>
          </a:xfrm>
          <a:prstGeom prst="roundRect">
            <a:avLst/>
          </a:prstGeom>
          <a:solidFill>
            <a:srgbClr val="282039"/>
          </a:solidFill>
          <a:ln w="17780">
            <a:solidFill>
              <a:srgbClr val="64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defRPr sz="1300" b="1">
                <a:solidFill>
                  <a:srgbClr val="F6F3FA"/>
                </a:solidFill>
                <a:latin typeface="Aptos"/>
              </a:defRPr>
            </a:pPr>
            <a:r>
              <a:t>MySQL: pollapp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43400" y="4617720"/>
            <a:ext cx="548640" cy="0"/>
          </a:xfrm>
          <a:prstGeom prst="line">
            <a:avLst/>
          </a:prstGeom>
          <a:ln w="22860">
            <a:solidFill>
              <a:srgbClr val="FF9F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5200" y="4617720"/>
            <a:ext cx="548640" cy="0"/>
          </a:xfrm>
          <a:prstGeom prst="line">
            <a:avLst/>
          </a:prstGeom>
          <a:ln w="22860">
            <a:solidFill>
              <a:srgbClr val="64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05840" y="5486400"/>
            <a:ext cx="101498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B9B0CA"/>
                </a:solidFill>
                <a:latin typeface="Aptos"/>
              </a:defRPr>
            </a:pPr>
            <a:r>
              <a:t>No external APIs, caches, or message brokers were identified in the project configuration.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394960"/>
            <a:ext cx="2560320" cy="2560320"/>
          </a:xfrm>
          <a:prstGeom prst="ellipse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51560" cy="50292"/>
          </a:xfrm>
          <a:prstGeom prst="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9B0C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2179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3FA"/>
                </a:solidFill>
                <a:latin typeface="Aptos"/>
              </a:defRPr>
            </a:pPr>
            <a:r>
              <a:t>08  |  Privacy &amp; Access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9B0CA"/>
                </a:solidFill>
                <a:latin typeface="Aptos"/>
              </a:defRPr>
            </a:pPr>
            <a:r>
              <a:t>Secret links replace account-based access for private voting and poll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383280" cy="201168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01952"/>
            <a:ext cx="54864" cy="1682496"/>
          </a:xfrm>
          <a:prstGeom prst="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0195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46CFF"/>
                </a:solidFill>
                <a:latin typeface="Aptos"/>
              </a:defRPr>
            </a:pPr>
            <a:r>
              <a:t>INVITE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04288"/>
            <a:ext cx="2999232" cy="1353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6F3FA"/>
                </a:solidFill>
                <a:latin typeface="Aptos"/>
              </a:defRPr>
            </a:pPr>
            <a:r>
              <a:t>An unguessable invite link provides access to a private poll.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37360"/>
            <a:ext cx="3383280" cy="201168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01952"/>
            <a:ext cx="54864" cy="1682496"/>
          </a:xfrm>
          <a:prstGeom prst="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90195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9F52"/>
                </a:solidFill>
                <a:latin typeface="Aptos"/>
              </a:defRPr>
            </a:pPr>
            <a:r>
              <a:t>MANAGEMENT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304288"/>
            <a:ext cx="2999232" cy="1353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6F3FA"/>
                </a:solidFill>
                <a:latin typeface="Aptos"/>
              </a:defRPr>
            </a:pPr>
            <a:r>
              <a:t>A secret management link allows settings changes, link rotation, and deletion.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383280" cy="201168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01952"/>
            <a:ext cx="54864" cy="1682496"/>
          </a:xfrm>
          <a:prstGeom prst="rect">
            <a:avLst/>
          </a:prstGeom>
          <a:solidFill>
            <a:srgbClr val="64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90195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4DCE0"/>
                </a:solidFill>
                <a:latin typeface="Aptos"/>
              </a:defRPr>
            </a:pPr>
            <a:r>
              <a:t>HASHED ON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304288"/>
            <a:ext cx="2999232" cy="1353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6F3FA"/>
                </a:solidFill>
                <a:latin typeface="Aptos"/>
              </a:defRPr>
            </a:pPr>
            <a:r>
              <a:t>The backend stores SHA-256 token hashes rather than raw invite and management tokens.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343400"/>
            <a:ext cx="10195560" cy="1005840"/>
          </a:xfrm>
          <a:prstGeom prst="roundRect">
            <a:avLst/>
          </a:prstGeom>
          <a:solidFill>
            <a:srgbClr val="282039"/>
          </a:solidFill>
          <a:ln w="15240">
            <a:solidFill>
              <a:srgbClr val="FF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526280"/>
            <a:ext cx="9601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73A8"/>
                </a:solidFill>
                <a:latin typeface="Aptos"/>
              </a:defRPr>
            </a:pPr>
            <a:r>
              <a:t>IMPORTANT LIMITATION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828032"/>
            <a:ext cx="9601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6F3FA"/>
                </a:solidFill>
                <a:latin typeface="Aptos"/>
              </a:defRPr>
            </a:pPr>
            <a:r>
              <a:t>One-vote-per-browser checks use voter-token hashes; this is not identity verification.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06440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9B0CA"/>
                </a:solidFill>
                <a:latin typeface="Aptos"/>
              </a:defRPr>
            </a:pPr>
            <a:r>
              <a:t>Private results visibility is controlled by poll state and voting 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394960"/>
            <a:ext cx="2560320" cy="2560320"/>
          </a:xfrm>
          <a:prstGeom prst="ellipse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51560" cy="50292"/>
          </a:xfrm>
          <a:prstGeom prst="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9B0C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2179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3FA"/>
                </a:solidFill>
                <a:latin typeface="Aptos"/>
              </a:defRPr>
            </a:pPr>
            <a:r>
              <a:t>09  |  Architecture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9B0CA"/>
                </a:solidFill>
                <a:latin typeface="Aptos"/>
              </a:defRPr>
            </a:pPr>
            <a:r>
              <a:t>A compact, layered design with link-based access and relational persistence.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3383280" cy="182880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56232"/>
            <a:ext cx="54864" cy="1499616"/>
          </a:xfrm>
          <a:prstGeom prst="rect">
            <a:avLst/>
          </a:prstGeom>
          <a:solidFill>
            <a:srgbClr val="A4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85623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46CFF"/>
                </a:solidFill>
                <a:latin typeface="Aptos"/>
              </a:defRPr>
            </a:pPr>
            <a:r>
              <a:t>SEPARATED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258568"/>
            <a:ext cx="2999232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6F3FA"/>
                </a:solidFill>
                <a:latin typeface="Aptos"/>
              </a:defRPr>
            </a:pPr>
            <a:r>
              <a:t>Static frontend, Spring Boot API, service logic, JPA repositories, and MySQL.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383280" cy="182880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56232"/>
            <a:ext cx="54864" cy="1499616"/>
          </a:xfrm>
          <a:prstGeom prst="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85623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9F52"/>
                </a:solidFill>
                <a:latin typeface="Aptos"/>
              </a:defRPr>
            </a:pPr>
            <a:r>
              <a:t>LOW-FRICTION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258568"/>
            <a:ext cx="2999232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6F3FA"/>
                </a:solidFill>
                <a:latin typeface="Aptos"/>
              </a:defRPr>
            </a:pPr>
            <a:r>
              <a:t>Public polls are discoverable; private polls and management use secret links.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91640"/>
            <a:ext cx="3383280" cy="1828800"/>
          </a:xfrm>
          <a:prstGeom prst="roundRect">
            <a:avLst/>
          </a:prstGeom>
          <a:solidFill>
            <a:srgbClr val="1F192E"/>
          </a:solidFill>
          <a:ln w="12700">
            <a:solidFill>
              <a:srgbClr val="564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856232"/>
            <a:ext cx="54864" cy="1499616"/>
          </a:xfrm>
          <a:prstGeom prst="rect">
            <a:avLst/>
          </a:prstGeom>
          <a:solidFill>
            <a:srgbClr val="64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85623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4DCE0"/>
                </a:solidFill>
                <a:latin typeface="Aptos"/>
              </a:defRPr>
            </a:pPr>
            <a:r>
              <a:t>PRIVACY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58568"/>
            <a:ext cx="2999232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6F3FA"/>
                </a:solidFill>
                <a:latin typeface="Aptos"/>
              </a:defRPr>
            </a:pPr>
            <a:r>
              <a:t>Tokens are hashed server-side; private votes are stored separately.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160520"/>
            <a:ext cx="102412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F6F3FA"/>
                </a:solidFill>
                <a:latin typeface="Aptos"/>
              </a:defRPr>
            </a:pPr>
            <a:r>
              <a:t>PollSpace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28032"/>
            <a:ext cx="98755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B9B0CA"/>
                </a:solidFill>
                <a:latin typeface="Aptos"/>
              </a:defRPr>
            </a:pPr>
            <a:r>
              <a:t>Anonymous polling, clear component boundaries, and browser-level safeguards.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5715000"/>
            <a:ext cx="3017520" cy="347472"/>
          </a:xfrm>
          <a:prstGeom prst="roundRect">
            <a:avLst/>
          </a:prstGeom>
          <a:solidFill>
            <a:srgbClr val="FF9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0E1D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