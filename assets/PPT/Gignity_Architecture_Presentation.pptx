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594360"/>
            <a:ext cx="2926080" cy="2926080"/>
          </a:xfrm>
          <a:prstGeom prst="ellipse">
            <a:avLst/>
          </a:prstGeom>
          <a:solidFill>
            <a:srgbClr val="1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926080"/>
          </a:xfrm>
          <a:prstGeom prst="ellipse">
            <a:avLst/>
          </a:prstGeom>
          <a:solidFill>
            <a:srgbClr val="24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1920240" cy="1920240"/>
          </a:xfrm>
          <a:prstGeom prst="ellipse">
            <a:avLst/>
          </a:prstGeom>
          <a:solidFill>
            <a:srgbClr val="14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1691640" cy="310896"/>
          </a:xfrm>
          <a:prstGeom prst="roundRect">
            <a:avLst/>
          </a:prstGeom>
          <a:solidFill>
            <a:srgbClr val="18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156716"/>
            <a:ext cx="163677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34D3D5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777240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4400" b="1" i="0">
                <a:solidFill>
                  <a:srgbClr val="F3F7FF"/>
                </a:solidFill>
                <a:latin typeface="Aptos"/>
              </a:defRPr>
            </a:pPr>
            <a:r>
              <a:t>GIGNITY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97480"/>
            <a:ext cx="77724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400" b="1" i="0">
                <a:solidFill>
                  <a:srgbClr val="34D3D5"/>
                </a:solidFill>
                <a:latin typeface="Aptos"/>
              </a:defRPr>
            </a:pPr>
            <a:r>
              <a:t>Job Discovery &amp; Posting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704088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AEBCD3"/>
                </a:solidFill>
                <a:latin typeface="Aptos"/>
              </a:defRPr>
            </a:pPr>
            <a:r>
              <a:t>A layered full-stack architecture connecting a browser UI, Node.js delivery layer, Spring Boot REST API, and MongoDB document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371600"/>
            <a:ext cx="242316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34D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463040"/>
            <a:ext cx="227685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Browser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755648"/>
            <a:ext cx="22768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HTML • CSS • JavaScript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82912" y="2011680"/>
            <a:ext cx="0" cy="320040"/>
          </a:xfrm>
          <a:prstGeom prst="line">
            <a:avLst/>
          </a:prstGeom>
          <a:ln w="21590">
            <a:solidFill>
              <a:srgbClr val="34D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66760" y="2331720"/>
            <a:ext cx="242316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9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2423160"/>
            <a:ext cx="227685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Node.js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715768"/>
            <a:ext cx="22768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Static files + API proxy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82912" y="2971800"/>
            <a:ext cx="0" cy="320040"/>
          </a:xfrm>
          <a:prstGeom prst="line">
            <a:avLst/>
          </a:prstGeom>
          <a:ln w="21590">
            <a:solidFill>
              <a:srgbClr val="9C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60" y="3291840"/>
            <a:ext cx="242316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2D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3383280"/>
            <a:ext cx="227685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Spring Boot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3675888"/>
            <a:ext cx="22768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Java 21 • REST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82912" y="3931920"/>
            <a:ext cx="0" cy="320040"/>
          </a:xfrm>
          <a:prstGeom prst="line">
            <a:avLst/>
          </a:prstGeom>
          <a:ln w="21590">
            <a:solidFill>
              <a:srgbClr val="2DB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66760" y="4251960"/>
            <a:ext cx="242316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4343400"/>
            <a:ext cx="227685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4636008"/>
            <a:ext cx="22768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users + jobs 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15000"/>
            <a:ext cx="4023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9C7BFF"/>
                </a:solidFill>
                <a:latin typeface="Aptos"/>
              </a:defRPr>
            </a:pPr>
            <a:r>
              <a:t>PORTFOLIO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510528"/>
            <a:ext cx="56692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AEBCD3"/>
                </a:solidFill>
                <a:latin typeface="Aptos"/>
              </a:defRPr>
            </a:pPr>
            <a:r>
              <a:t>GIGNITY  •  SYSTEM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92240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1" i="0">
                <a:solidFill>
                  <a:srgbClr val="34D3D5"/>
                </a:solidFill>
                <a:latin typeface="Apto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594360"/>
            <a:ext cx="2926080" cy="2926080"/>
          </a:xfrm>
          <a:prstGeom prst="ellipse">
            <a:avLst/>
          </a:prstGeom>
          <a:solidFill>
            <a:srgbClr val="1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926080"/>
          </a:xfrm>
          <a:prstGeom prst="ellipse">
            <a:avLst/>
          </a:prstGeom>
          <a:solidFill>
            <a:srgbClr val="24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1920240" cy="1920240"/>
          </a:xfrm>
          <a:prstGeom prst="ellipse">
            <a:avLst/>
          </a:prstGeom>
          <a:solidFill>
            <a:srgbClr val="14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01  • 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10698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3F7FF"/>
                </a:solidFill>
                <a:latin typeface="Aptos"/>
              </a:defRPr>
            </a:pPr>
            <a:r>
              <a:t>What Gignity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10332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A job platform centered on discovery, posting, and user-managed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3429000" cy="141732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121408"/>
            <a:ext cx="73152" cy="1106424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30552"/>
            <a:ext cx="28986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Discover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69464"/>
            <a:ext cx="2898648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Browse available jobs and filter by job type and location.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65960"/>
            <a:ext cx="3429000" cy="141732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53712" y="2121408"/>
            <a:ext cx="73152" cy="1106424"/>
          </a:xfrm>
          <a:prstGeom prst="rect">
            <a:avLst/>
          </a:prstGeom>
          <a:solidFill>
            <a:srgbClr val="9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2130552"/>
            <a:ext cx="28986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Post opportunities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569464"/>
            <a:ext cx="2898648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Authenticated users can create, update, and delete their own job posts.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65960"/>
            <a:ext cx="3429000" cy="141732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2121408"/>
            <a:ext cx="73152" cy="1106424"/>
          </a:xfrm>
          <a:prstGeom prst="rect">
            <a:avLst/>
          </a:prstGeom>
          <a:solidFill>
            <a:srgbClr val="2D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130552"/>
            <a:ext cx="28986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Manage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569464"/>
            <a:ext cx="2898648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Registration, login, profile updates, and posted/applied job lists.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3794760"/>
            <a:ext cx="4251960" cy="132588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9072" y="3950208"/>
            <a:ext cx="73152" cy="1014983"/>
          </a:xfrm>
          <a:prstGeom prst="rect">
            <a:avLst/>
          </a:prstGeom>
          <a:solidFill>
            <a:srgbClr val="FF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01952" y="3959352"/>
            <a:ext cx="37216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Apply with eligibility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4398264"/>
            <a:ext cx="3721608" cy="6126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Applications require a valid JWT and the account’s Aadhaar-verification flag.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794760"/>
            <a:ext cx="4251960" cy="132588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19672" y="3950208"/>
            <a:ext cx="73152" cy="1014983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3959352"/>
            <a:ext cx="37216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Location-aware browsing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4398264"/>
            <a:ext cx="3721608" cy="6126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Uses Nominatim reverse geocoding and can open Google Maps location links.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532120"/>
            <a:ext cx="8961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1">
                <a:solidFill>
                  <a:srgbClr val="AEBCD3"/>
                </a:solidFill>
                <a:latin typeface="Aptos"/>
              </a:defRPr>
            </a:pPr>
            <a:r>
              <a:t>Application records are maintained through job IDs stored in each user document.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510528"/>
            <a:ext cx="56692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AEBCD3"/>
                </a:solidFill>
                <a:latin typeface="Aptos"/>
              </a:defRPr>
            </a:pPr>
            <a:r>
              <a:t>GIGNITY  •  SYSTEM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1" i="0">
                <a:solidFill>
                  <a:srgbClr val="34D3D5"/>
                </a:solidFill>
                <a:latin typeface="Apto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594360"/>
            <a:ext cx="2926080" cy="2926080"/>
          </a:xfrm>
          <a:prstGeom prst="ellipse">
            <a:avLst/>
          </a:prstGeom>
          <a:solidFill>
            <a:srgbClr val="1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926080"/>
          </a:xfrm>
          <a:prstGeom prst="ellipse">
            <a:avLst/>
          </a:prstGeom>
          <a:solidFill>
            <a:srgbClr val="24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1920240" cy="1920240"/>
          </a:xfrm>
          <a:prstGeom prst="ellipse">
            <a:avLst/>
          </a:prstGeom>
          <a:solidFill>
            <a:srgbClr val="14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02  •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10698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3F7FF"/>
                </a:solidFill>
                <a:latin typeface="Aptos"/>
              </a:defRPr>
            </a:pPr>
            <a:r>
              <a:t>High-Level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10332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One public tunnel can expose the static site and the API through a unified Node.js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2240280" cy="100584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34D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3172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24328"/>
            <a:ext cx="209397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HTML / CSS / 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40280"/>
            <a:ext cx="2240280" cy="100584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9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233172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ngrok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624328"/>
            <a:ext cx="209397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Public sharing edge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240280"/>
            <a:ext cx="2240280" cy="100584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2D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33172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624328"/>
            <a:ext cx="209397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Static server + proxy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2240280"/>
            <a:ext cx="2514600" cy="100584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2331720"/>
            <a:ext cx="236829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624328"/>
            <a:ext cx="236829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REST controllers + services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71800" y="2743200"/>
            <a:ext cx="457200" cy="0"/>
          </a:xfrm>
          <a:prstGeom prst="line">
            <a:avLst/>
          </a:prstGeom>
          <a:ln w="21590">
            <a:solidFill>
              <a:srgbClr val="34D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0" y="2743200"/>
            <a:ext cx="457200" cy="0"/>
          </a:xfrm>
          <a:prstGeom prst="line">
            <a:avLst/>
          </a:prstGeom>
          <a:ln w="21590">
            <a:solidFill>
              <a:srgbClr val="9C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66760" y="2743200"/>
            <a:ext cx="457200" cy="0"/>
          </a:xfrm>
          <a:prstGeom prst="line">
            <a:avLst/>
          </a:prstGeom>
          <a:ln w="21590">
            <a:solidFill>
              <a:srgbClr val="2DB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076688" y="3246120"/>
            <a:ext cx="0" cy="822960"/>
          </a:xfrm>
          <a:prstGeom prst="line">
            <a:avLst/>
          </a:prstGeom>
          <a:ln w="21590">
            <a:solidFill>
              <a:srgbClr val="FFC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823960" y="4069080"/>
            <a:ext cx="2514600" cy="82296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2" y="4160520"/>
            <a:ext cx="236829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4453128"/>
            <a:ext cx="2368296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gignity: users + jobs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069080"/>
            <a:ext cx="3291840" cy="109728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3271" y="4224528"/>
            <a:ext cx="73152" cy="786383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6152" y="4233672"/>
            <a:ext cx="276148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Static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672584"/>
            <a:ext cx="2761488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AEBCD3"/>
                </a:solidFill>
                <a:latin typeface="Aptos"/>
              </a:defRPr>
            </a:pPr>
            <a:r>
              <a:t>Node serves frontend pages and assets.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069080"/>
            <a:ext cx="3474720" cy="109728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99431" y="4224528"/>
            <a:ext cx="73152" cy="786383"/>
          </a:xfrm>
          <a:prstGeom prst="rect">
            <a:avLst/>
          </a:prstGeom>
          <a:solidFill>
            <a:srgbClr val="9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2312" y="4233672"/>
            <a:ext cx="29443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API proxy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4672584"/>
            <a:ext cx="2944368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AEBCD3"/>
                </a:solidFill>
                <a:latin typeface="Aptos"/>
              </a:defRPr>
            </a:pPr>
            <a:r>
              <a:t>Forwards /users and /jobs to backend port 8080.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23560"/>
            <a:ext cx="10058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AEBCD3"/>
                </a:solidFill>
                <a:latin typeface="Aptos"/>
              </a:defRPr>
            </a:pPr>
            <a:r>
              <a:t>Typical ports: Node.js 5501  •  Spring Boot 8080  •  optional Live Server 5500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510528"/>
            <a:ext cx="56692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AEBCD3"/>
                </a:solidFill>
                <a:latin typeface="Aptos"/>
              </a:defRPr>
            </a:pPr>
            <a:r>
              <a:t>GIGNITY  •  SYSTEM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1" i="0">
                <a:solidFill>
                  <a:srgbClr val="34D3D5"/>
                </a:solidFill>
                <a:latin typeface="Apto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594360"/>
            <a:ext cx="2926080" cy="2926080"/>
          </a:xfrm>
          <a:prstGeom prst="ellipse">
            <a:avLst/>
          </a:prstGeom>
          <a:solidFill>
            <a:srgbClr val="1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926080"/>
          </a:xfrm>
          <a:prstGeom prst="ellipse">
            <a:avLst/>
          </a:prstGeom>
          <a:solidFill>
            <a:srgbClr val="24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1920240" cy="1920240"/>
          </a:xfrm>
          <a:prstGeom prst="ellipse">
            <a:avLst/>
          </a:prstGeom>
          <a:solidFill>
            <a:srgbClr val="14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03  • 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10698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3F7FF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10332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The project combines a lightweight browser frontend with a Java REST backend and document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5166360" cy="1024128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029967"/>
            <a:ext cx="73152" cy="713232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039112"/>
            <a:ext cx="46360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478024"/>
            <a:ext cx="46360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HTML • CSS • Vanilla JavaScript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Registration, login, profile, job search/posting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74519"/>
            <a:ext cx="5166360" cy="1024128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9671" y="2029967"/>
            <a:ext cx="73152" cy="713232"/>
          </a:xfrm>
          <a:prstGeom prst="rect">
            <a:avLst/>
          </a:prstGeom>
          <a:solidFill>
            <a:srgbClr val="9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1" y="2039112"/>
            <a:ext cx="46360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1" y="2478024"/>
            <a:ext cx="46360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Node.js built-in http / fs / path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Static assets and reverse-proxied API routes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72968"/>
            <a:ext cx="5166360" cy="1024128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" y="3328415"/>
            <a:ext cx="73152" cy="713232"/>
          </a:xfrm>
          <a:prstGeom prst="rect">
            <a:avLst/>
          </a:prstGeom>
          <a:solidFill>
            <a:srgbClr val="2D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3337560"/>
            <a:ext cx="46360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3776472"/>
            <a:ext cx="46360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Java 21 • Spring Boot 3.1.0 • Spring Web MVC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REST endpoints and application bootstrapping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172968"/>
            <a:ext cx="5166360" cy="1024128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19671" y="3328415"/>
            <a:ext cx="73152" cy="713232"/>
          </a:xfrm>
          <a:prstGeom prst="rect">
            <a:avLst/>
          </a:prstGeom>
          <a:solidFill>
            <a:srgbClr val="FF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1" y="3337560"/>
            <a:ext cx="46360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DATA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1" y="3776472"/>
            <a:ext cx="46360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Spring Data MongoDB • Maven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Repositories, document persistence, build/test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471416"/>
            <a:ext cx="5166360" cy="1024128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" y="4626864"/>
            <a:ext cx="73152" cy="713232"/>
          </a:xfrm>
          <a:prstGeom prst="rect">
            <a:avLst/>
          </a:prstGeom>
          <a:solidFill>
            <a:srgbClr val="70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4636007"/>
            <a:ext cx="46360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5074920"/>
            <a:ext cx="46360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JJWT 0.11.5 • Bearer tokens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Signed JWT creation and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79" y="4471416"/>
            <a:ext cx="5166360" cy="1024128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19671" y="4626864"/>
            <a:ext cx="73152" cy="713232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1" y="4636007"/>
            <a:ext cx="46360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SHARING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1" y="5074920"/>
            <a:ext cx="46360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ngrok • HTTPS tunnel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Expose the unified server for remote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510528"/>
            <a:ext cx="56692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AEBCD3"/>
                </a:solidFill>
                <a:latin typeface="Aptos"/>
              </a:defRPr>
            </a:pPr>
            <a:r>
              <a:t>GIGNITY  •  SYSTEM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1" i="0">
                <a:solidFill>
                  <a:srgbClr val="34D3D5"/>
                </a:solidFill>
                <a:latin typeface="Apto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594360"/>
            <a:ext cx="2926080" cy="2926080"/>
          </a:xfrm>
          <a:prstGeom prst="ellipse">
            <a:avLst/>
          </a:prstGeom>
          <a:solidFill>
            <a:srgbClr val="1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926080"/>
          </a:xfrm>
          <a:prstGeom prst="ellipse">
            <a:avLst/>
          </a:prstGeom>
          <a:solidFill>
            <a:srgbClr val="24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1920240" cy="1920240"/>
          </a:xfrm>
          <a:prstGeom prst="ellipse">
            <a:avLst/>
          </a:prstGeom>
          <a:solidFill>
            <a:srgbClr val="14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04  • 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10698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3F7FF"/>
                </a:solidFill>
                <a:latin typeface="Aptos"/>
              </a:defRPr>
            </a:pPr>
            <a:r>
              <a:t>Backend Components &amp; Responsibilities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10332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Responsibilities are separated across API, business logic, security, and persistence layers.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22402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79676"/>
            <a:ext cx="21854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API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60320"/>
            <a:ext cx="224028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34D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5176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UserController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224028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34D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56616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JobController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965960"/>
            <a:ext cx="22402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979676"/>
            <a:ext cx="21854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9C7BFF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2560320"/>
            <a:ext cx="224028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9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265176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UserService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474720"/>
            <a:ext cx="224028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9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356616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JobService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965960"/>
            <a:ext cx="22402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979676"/>
            <a:ext cx="21854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FC466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560320"/>
            <a:ext cx="224028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65176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JwtUtil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474720"/>
            <a:ext cx="224028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356616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WebConfig / CORS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965960"/>
            <a:ext cx="22402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1979676"/>
            <a:ext cx="21854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2DB4AA"/>
                </a:solidFill>
                <a:latin typeface="Aptos"/>
              </a:defRPr>
            </a:pPr>
            <a:r>
              <a:t>DATA ACCESS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2560320"/>
            <a:ext cx="224028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2D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2" y="265176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UserRepository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3474720"/>
            <a:ext cx="2240280" cy="621792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2D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3566160"/>
            <a:ext cx="20939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JobRepository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26080" y="3246120"/>
            <a:ext cx="502920" cy="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60720" y="3246120"/>
            <a:ext cx="502920" cy="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95360" y="3246120"/>
            <a:ext cx="502920" cy="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14400" y="4800600"/>
            <a:ext cx="4800600" cy="91440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8992" y="4956048"/>
            <a:ext cx="73152" cy="603503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61872" y="4965192"/>
            <a:ext cx="42702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UserController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5404104"/>
            <a:ext cx="4270248" cy="20116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Registration, login, profile, token validation, applied/posted job lists.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4800600"/>
            <a:ext cx="4800600" cy="91440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11112" y="4956048"/>
            <a:ext cx="73152" cy="603503"/>
          </a:xfrm>
          <a:prstGeom prst="rect">
            <a:avLst/>
          </a:prstGeom>
          <a:solidFill>
            <a:srgbClr val="2D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93992" y="4965192"/>
            <a:ext cx="42702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JobController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3992" y="5404104"/>
            <a:ext cx="4270248" cy="20116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Job creation, retrieval, filtering, application, updates, and deletion.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510528"/>
            <a:ext cx="56692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AEBCD3"/>
                </a:solidFill>
                <a:latin typeface="Aptos"/>
              </a:defRPr>
            </a:pPr>
            <a:r>
              <a:t>GIGNITY  •  SYSTEM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92240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1" i="0">
                <a:solidFill>
                  <a:srgbClr val="34D3D5"/>
                </a:solidFill>
                <a:latin typeface="Apto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594360"/>
            <a:ext cx="2926080" cy="2926080"/>
          </a:xfrm>
          <a:prstGeom prst="ellipse">
            <a:avLst/>
          </a:prstGeom>
          <a:solidFill>
            <a:srgbClr val="1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926080"/>
          </a:xfrm>
          <a:prstGeom prst="ellipse">
            <a:avLst/>
          </a:prstGeom>
          <a:solidFill>
            <a:srgbClr val="24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1920240" cy="1920240"/>
          </a:xfrm>
          <a:prstGeom prst="ellipse">
            <a:avLst/>
          </a:prstGeom>
          <a:solidFill>
            <a:srgbClr val="14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05  • 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10698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3F7FF"/>
                </a:solidFill>
                <a:latin typeface="Aptos"/>
              </a:defRPr>
            </a:pPr>
            <a:r>
              <a:t>MongoDB Data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10332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Two document types are stored in the gignity database; the diagram is conceptual, not a relational schema.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20240"/>
            <a:ext cx="4983480" cy="329184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075688"/>
            <a:ext cx="73152" cy="2980944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084832"/>
            <a:ext cx="44531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USER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523744"/>
            <a:ext cx="4453128" cy="2578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Identity: id, email, name, password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Profile: age, gender, avatar, mobile, language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Preferences: preferredJobType, location, autoLocation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Verification: aadharVerified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Relationships: postedJobIds, appliedJobIds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20240"/>
            <a:ext cx="4983480" cy="329184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5392" y="2075688"/>
            <a:ext cx="73152" cy="2980944"/>
          </a:xfrm>
          <a:prstGeom prst="rect">
            <a:avLst/>
          </a:prstGeom>
          <a:solidFill>
            <a:srgbClr val="FF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2"/>
            <a:ext cx="44531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JOB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523744"/>
            <a:ext cx="4453128" cy="2578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Details: jobTitle, jobType, jobDescription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Availability: vacancy, fromDate, toDate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Schedule: startTime, endTime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Compensation: pay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Location/contact: location, contactNumber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AEBCD3"/>
                </a:solidFill>
                <a:latin typeface="Aptos"/>
              </a:defRPr>
            </a:pPr>
            <a:r>
              <a:t>• Location mode: autoLocation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720" y="3108960"/>
            <a:ext cx="594360" cy="0"/>
          </a:xfrm>
          <a:prstGeom prst="line">
            <a:avLst/>
          </a:prstGeom>
          <a:ln w="25400">
            <a:solidFill>
              <a:srgbClr val="9C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760720" y="3840480"/>
            <a:ext cx="594360" cy="0"/>
          </a:xfrm>
          <a:prstGeom prst="line">
            <a:avLst/>
          </a:prstGeom>
          <a:ln w="25400">
            <a:solidFill>
              <a:srgbClr val="2DB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97680" y="5440680"/>
            <a:ext cx="36118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5454396"/>
            <a:ext cx="35570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MongoDB • users + jobs 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1498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1">
                <a:solidFill>
                  <a:srgbClr val="AEBCD3"/>
                </a:solidFill>
                <a:latin typeface="Aptos"/>
              </a:defRPr>
            </a:pPr>
            <a:r>
              <a:t>Job IDs are stored in user documents; MongoDB does not enforce these references as foreign keys.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510528"/>
            <a:ext cx="56692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AEBCD3"/>
                </a:solidFill>
                <a:latin typeface="Aptos"/>
              </a:defRPr>
            </a:pPr>
            <a:r>
              <a:t>GIGNITY  •  SYSTEM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1" i="0">
                <a:solidFill>
                  <a:srgbClr val="34D3D5"/>
                </a:solidFill>
                <a:latin typeface="Apto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594360"/>
            <a:ext cx="2926080" cy="2926080"/>
          </a:xfrm>
          <a:prstGeom prst="ellipse">
            <a:avLst/>
          </a:prstGeom>
          <a:solidFill>
            <a:srgbClr val="1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926080"/>
          </a:xfrm>
          <a:prstGeom prst="ellipse">
            <a:avLst/>
          </a:prstGeom>
          <a:solidFill>
            <a:srgbClr val="24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1920240" cy="1920240"/>
          </a:xfrm>
          <a:prstGeom prst="ellipse">
            <a:avLst/>
          </a:prstGeom>
          <a:solidFill>
            <a:srgbClr val="14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06  •  REQUEST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10698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3F7FF"/>
                </a:solidFill>
                <a:latin typeface="Aptos"/>
              </a:defRPr>
            </a:pPr>
            <a:r>
              <a:t>Authentication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10332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Login returns a signed JWT; subsequent protected requests carry it as a Bearer token.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24688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34D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57400"/>
            <a:ext cx="23225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Enter email +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23225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Browser login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764792"/>
            <a:ext cx="4114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778507"/>
            <a:ext cx="3566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3F7FF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2450591"/>
            <a:ext cx="320039" cy="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66160" y="1965960"/>
            <a:ext cx="24688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9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2057400"/>
            <a:ext cx="23225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POST /users/login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350008"/>
            <a:ext cx="23225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Node proxy → UserController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93592" y="1764792"/>
            <a:ext cx="4114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778507"/>
            <a:ext cx="3566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3F7FF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2450591"/>
            <a:ext cx="320040" cy="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1965960"/>
            <a:ext cx="24688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2D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057400"/>
            <a:ext cx="23225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Find user by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350008"/>
            <a:ext cx="23225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UserRepository → MongoDB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8232" y="1764792"/>
            <a:ext cx="4114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1778507"/>
            <a:ext cx="3566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3F7FF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9680" y="2450591"/>
            <a:ext cx="320040" cy="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35440" y="1965960"/>
            <a:ext cx="24688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2057400"/>
            <a:ext cx="23225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Compare credentials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2350008"/>
            <a:ext cx="23225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Controller checks submitted password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62872" y="1764792"/>
            <a:ext cx="4114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0304" y="1778507"/>
            <a:ext cx="3566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3F7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383280"/>
            <a:ext cx="24688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70D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3474720"/>
            <a:ext cx="23225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Create signed JWT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3767328"/>
            <a:ext cx="23225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JwtUtil returns token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" y="3182112"/>
            <a:ext cx="4114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3195828"/>
            <a:ext cx="3566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3F7FF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200400" y="3867912"/>
            <a:ext cx="320039" cy="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566160" y="3383280"/>
            <a:ext cx="24688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34D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9312" y="3474720"/>
            <a:ext cx="23225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Store token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9312" y="3767328"/>
            <a:ext cx="23225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Browser localStorage key: jwt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93592" y="3182112"/>
            <a:ext cx="4114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21024" y="3195828"/>
            <a:ext cx="3566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3F7FF"/>
                </a:solidFill>
                <a:latin typeface="Aptos"/>
              </a:defRPr>
            </a:pPr>
            <a:r>
              <a:t>6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35040" y="3867912"/>
            <a:ext cx="320040" cy="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400800" y="3383280"/>
            <a:ext cx="24688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9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3474720"/>
            <a:ext cx="23225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Request /users/me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3952" y="3767328"/>
            <a:ext cx="23225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Authorization: Bearer token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28232" y="3182112"/>
            <a:ext cx="4114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3195828"/>
            <a:ext cx="3566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3F7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5074920"/>
            <a:ext cx="4846320" cy="82296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78992" y="5230368"/>
            <a:ext cx="73152" cy="512064"/>
          </a:xfrm>
          <a:prstGeom prst="rect">
            <a:avLst/>
          </a:prstGeom>
          <a:solidFill>
            <a:srgbClr val="70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61872" y="5239512"/>
            <a:ext cx="43159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Success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61872" y="5678424"/>
            <a:ext cx="4315968" cy="1097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AEBCD3"/>
                </a:solidFill>
                <a:latin typeface="Aptos"/>
              </a:defRPr>
            </a:pPr>
            <a:r>
              <a:t>Signed JWT + user ID are returned; profile is fetched without the password.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5074920"/>
            <a:ext cx="4846320" cy="82296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65392" y="5230368"/>
            <a:ext cx="73152" cy="512064"/>
          </a:xfrm>
          <a:prstGeom prst="rect">
            <a:avLst/>
          </a:prstGeom>
          <a:solidFill>
            <a:srgbClr val="F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48272" y="5239512"/>
            <a:ext cx="43159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5678424"/>
            <a:ext cx="4315968" cy="1097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AEBCD3"/>
                </a:solidFill>
                <a:latin typeface="Aptos"/>
              </a:defRPr>
            </a:pPr>
            <a:r>
              <a:t>Invalid credentials return HTTP 401.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6035040"/>
            <a:ext cx="104241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900" b="0" i="0">
                <a:solidFill>
                  <a:srgbClr val="FFC466"/>
                </a:solidFill>
                <a:latin typeface="Aptos"/>
              </a:defRPr>
            </a:pPr>
            <a:r>
              <a:t>Security note: the inspected implementation compares submitted passwords directly with stored values; this is existing behavior, not a production recommendation.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6510528"/>
            <a:ext cx="56692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AEBCD3"/>
                </a:solidFill>
                <a:latin typeface="Aptos"/>
              </a:defRPr>
            </a:pPr>
            <a:r>
              <a:t>GIGNITY  •  SYSTEM ARCHITECTURE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0" y="6492240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1" i="0">
                <a:solidFill>
                  <a:srgbClr val="34D3D5"/>
                </a:solidFill>
                <a:latin typeface="Apto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594360"/>
            <a:ext cx="2926080" cy="2926080"/>
          </a:xfrm>
          <a:prstGeom prst="ellipse">
            <a:avLst/>
          </a:prstGeom>
          <a:solidFill>
            <a:srgbClr val="1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926080"/>
          </a:xfrm>
          <a:prstGeom prst="ellipse">
            <a:avLst/>
          </a:prstGeom>
          <a:solidFill>
            <a:srgbClr val="24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1920240" cy="1920240"/>
          </a:xfrm>
          <a:prstGeom prst="ellipse">
            <a:avLst/>
          </a:prstGeom>
          <a:solidFill>
            <a:srgbClr val="14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07  •  REQUEST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10698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3F7FF"/>
                </a:solidFill>
                <a:latin typeface="Aptos"/>
              </a:defRPr>
            </a:pPr>
            <a:r>
              <a:t>Job Application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10332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An application updates the applicant’s appliedJobIds list after eligibility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20116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34D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423160"/>
            <a:ext cx="18653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Browse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15768"/>
            <a:ext cx="18653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GET /jobs/find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331720"/>
            <a:ext cx="20116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9C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2423160"/>
            <a:ext cx="18653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Select 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715768"/>
            <a:ext cx="18653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Choose listing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331720"/>
            <a:ext cx="20116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2D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2423160"/>
            <a:ext cx="18653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2715768"/>
            <a:ext cx="18653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POST /jobs/apply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331720"/>
            <a:ext cx="201168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2423160"/>
            <a:ext cx="186537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2715768"/>
            <a:ext cx="186537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JWT + eligibility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2331720"/>
            <a:ext cx="1417320" cy="960120"/>
          </a:xfrm>
          <a:prstGeom prst="roundRect">
            <a:avLst/>
          </a:prstGeom>
          <a:solidFill>
            <a:srgbClr val="17223A"/>
          </a:solidFill>
          <a:ln w="17780">
            <a:solidFill>
              <a:srgbClr val="70D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31552" y="2423160"/>
            <a:ext cx="127101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3F7FF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2" y="2715768"/>
            <a:ext cx="1271016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 i="0">
                <a:solidFill>
                  <a:srgbClr val="AEBCD3"/>
                </a:solidFill>
                <a:latin typeface="Aptos"/>
              </a:defRPr>
            </a:pPr>
            <a:r>
              <a:t>Update user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2807208"/>
            <a:ext cx="320040" cy="0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74920" y="2807208"/>
            <a:ext cx="320040" cy="0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06640" y="2807208"/>
            <a:ext cx="320039" cy="0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738359" y="2807208"/>
            <a:ext cx="320041" cy="0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2960" y="3886200"/>
            <a:ext cx="3383280" cy="123444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" y="4041648"/>
            <a:ext cx="73152" cy="923544"/>
          </a:xfrm>
          <a:prstGeom prst="rect">
            <a:avLst/>
          </a:prstGeom>
          <a:solidFill>
            <a:srgbClr val="70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4050791"/>
            <a:ext cx="28529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4489704"/>
            <a:ext cx="2852928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AEBCD3"/>
                </a:solidFill>
                <a:latin typeface="Aptos"/>
              </a:defRPr>
            </a:pPr>
            <a:r>
              <a:t>Valid JWT and aadharVerified == true.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3886200"/>
            <a:ext cx="3383280" cy="123444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99431" y="4041648"/>
            <a:ext cx="73152" cy="923544"/>
          </a:xfrm>
          <a:prstGeom prst="rect">
            <a:avLst/>
          </a:prstGeom>
          <a:solidFill>
            <a:srgbClr val="F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2312" y="4050791"/>
            <a:ext cx="28529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Blocked cases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4489704"/>
            <a:ext cx="2852928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AEBCD3"/>
                </a:solidFill>
                <a:latin typeface="Aptos"/>
              </a:defRPr>
            </a:pPr>
            <a:r>
              <a:t>Own job or duplicate application is rejected.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886200"/>
            <a:ext cx="3383280" cy="123444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1312" y="4041648"/>
            <a:ext cx="73152" cy="923544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4050791"/>
            <a:ext cx="28529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489704"/>
            <a:ext cx="2852928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Job ID is appended to User.appliedJobIds; no separate application collection.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FFC466"/>
                </a:solidFill>
                <a:latin typeface="Aptos"/>
              </a:defRPr>
            </a:pPr>
            <a:r>
              <a:t>Aadhaar verification currently checks 12-digit format and sets a flag; it does not call an identity-verification provider.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510528"/>
            <a:ext cx="56692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AEBCD3"/>
                </a:solidFill>
                <a:latin typeface="Aptos"/>
              </a:defRPr>
            </a:pPr>
            <a:r>
              <a:t>GIGNITY  •  SYSTEM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1" i="0">
                <a:solidFill>
                  <a:srgbClr val="34D3D5"/>
                </a:solidFill>
                <a:latin typeface="Apto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594360"/>
            <a:ext cx="2926080" cy="2926080"/>
          </a:xfrm>
          <a:prstGeom prst="ellipse">
            <a:avLst/>
          </a:prstGeom>
          <a:solidFill>
            <a:srgbClr val="1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926080"/>
          </a:xfrm>
          <a:prstGeom prst="ellipse">
            <a:avLst/>
          </a:prstGeom>
          <a:solidFill>
            <a:srgbClr val="24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1920240" cy="1920240"/>
          </a:xfrm>
          <a:prstGeom prst="ellipse">
            <a:avLst/>
          </a:prstGeom>
          <a:solidFill>
            <a:srgbClr val="14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08  • 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10698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3F7FF"/>
                </a:solidFill>
                <a:latin typeface="Aptos"/>
              </a:defRPr>
            </a:pPr>
            <a:r>
              <a:t>REST API Surface &amp; Integrations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10332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The backend exposes user and job routes; protected routes require Authorization: Bearer &lt;token&gt;.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303520" cy="342900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7"/>
            <a:ext cx="73152" cy="3118104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39112"/>
            <a:ext cx="47731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USER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478024"/>
            <a:ext cx="4773168" cy="2715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POST  /users/register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POST  /users/login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GET   /users/me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PUT   /users/me/update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POST  /users/me/verify-aadhaar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GET   /users/me/applied-jobs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GET   /users/me/posted-jobs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POST  /users/me/withdraw?jobId=:id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303520" cy="342900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8231" y="2029967"/>
            <a:ext cx="73152" cy="3118104"/>
          </a:xfrm>
          <a:prstGeom prst="rect">
            <a:avLst/>
          </a:prstGeom>
          <a:solidFill>
            <a:srgbClr val="9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2039112"/>
            <a:ext cx="47731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JOB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478024"/>
            <a:ext cx="4773168" cy="2715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POST   /jobs/add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POST   /jobs/apply?jobId=:id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GET    /jobs/find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GET    /jobs/filter?jobType=:type&amp;location=:location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GET    /jobs/:jobId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PUT    /jobs/:jobId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DELETE /jobs/:jobId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532120"/>
            <a:ext cx="219456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545836"/>
            <a:ext cx="213969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2DB4AA"/>
                </a:solidFill>
                <a:latin typeface="Aptos"/>
              </a:defRPr>
            </a:pPr>
            <a:r>
              <a:t>Nominatim geocoding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5532120"/>
            <a:ext cx="20116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1" y="5545836"/>
            <a:ext cx="19568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Google Maps 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5532120"/>
            <a:ext cx="2468880" cy="31089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5545836"/>
            <a:ext cx="2414016" cy="265176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FC466"/>
                </a:solidFill>
                <a:latin typeface="Aptos"/>
              </a:defRPr>
            </a:pPr>
            <a:r>
              <a:t>Google Identity script*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961888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AEBCD3"/>
                </a:solidFill>
                <a:latin typeface="Aptos"/>
              </a:defRPr>
            </a:pPr>
            <a:r>
              <a:t>*Google sign-in script is included, but /users/login/google has no matching backend route in the inspected controllers.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510528"/>
            <a:ext cx="56692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AEBCD3"/>
                </a:solidFill>
                <a:latin typeface="Aptos"/>
              </a:defRPr>
            </a:pPr>
            <a:r>
              <a:t>GIGNITY  •  SYSTEM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1" i="0">
                <a:solidFill>
                  <a:srgbClr val="34D3D5"/>
                </a:solidFill>
                <a:latin typeface="Apto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594360"/>
            <a:ext cx="2926080" cy="2926080"/>
          </a:xfrm>
          <a:prstGeom prst="ellipse">
            <a:avLst/>
          </a:prstGeom>
          <a:solidFill>
            <a:srgbClr val="1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926080"/>
          </a:xfrm>
          <a:prstGeom prst="ellipse">
            <a:avLst/>
          </a:prstGeom>
          <a:solidFill>
            <a:srgbClr val="24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1920240" cy="1920240"/>
          </a:xfrm>
          <a:prstGeom prst="ellipse">
            <a:avLst/>
          </a:prstGeom>
          <a:solidFill>
            <a:srgbClr val="14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8912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34D3D5"/>
                </a:solidFill>
                <a:latin typeface="Aptos"/>
              </a:defRPr>
            </a:pPr>
            <a:r>
              <a:t>09  • 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10698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3F7FF"/>
                </a:solidFill>
                <a:latin typeface="Aptos"/>
              </a:defRPr>
            </a:pPr>
            <a:r>
              <a:t>Architecture Decisions &amp;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10332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A practical layered design for a job discovery platform, with clear next steps for production hardening.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429000" cy="132588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1984248"/>
            <a:ext cx="73152" cy="1014983"/>
          </a:xfrm>
          <a:prstGeom prst="rect">
            <a:avLst/>
          </a:prstGeom>
          <a:solidFill>
            <a:srgbClr val="34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28986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Single public origin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432304"/>
            <a:ext cx="2898648" cy="6126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Node serves static files and proxies /users and /jobs through one ngrok tunnel.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29000" cy="132588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53712" y="1984248"/>
            <a:ext cx="73152" cy="1014983"/>
          </a:xfrm>
          <a:prstGeom prst="rect">
            <a:avLst/>
          </a:prstGeom>
          <a:solidFill>
            <a:srgbClr val="9C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993392"/>
            <a:ext cx="28986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Layered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432304"/>
            <a:ext cx="2898648" cy="6126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Controllers, services, repositories, JWT utility, and CORS configuration.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429000" cy="132588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1984248"/>
            <a:ext cx="73152" cy="1014983"/>
          </a:xfrm>
          <a:prstGeom prst="rect">
            <a:avLst/>
          </a:prstGeom>
          <a:solidFill>
            <a:srgbClr val="2D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993392"/>
            <a:ext cx="28986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Document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432304"/>
            <a:ext cx="2898648" cy="6126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MongoDB holds users and jobs; job IDs link posted/applied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657600"/>
            <a:ext cx="4709160" cy="132588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61872" y="3813048"/>
            <a:ext cx="73152" cy="1014983"/>
          </a:xfrm>
          <a:prstGeom prst="rect">
            <a:avLst/>
          </a:prstGeom>
          <a:solidFill>
            <a:srgbClr val="FF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4752" y="3822191"/>
            <a:ext cx="41788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Current implementation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261104"/>
            <a:ext cx="4178808" cy="6126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Google login route is missing; password comparison is direct; Aadhaar is format-only.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57600"/>
            <a:ext cx="4709160" cy="132588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334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19672" y="3813048"/>
            <a:ext cx="73152" cy="1014983"/>
          </a:xfrm>
          <a:prstGeom prst="rect">
            <a:avLst/>
          </a:prstGeom>
          <a:solidFill>
            <a:srgbClr val="70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3822191"/>
            <a:ext cx="41788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3F7FF"/>
                </a:solidFill>
                <a:latin typeface="Aptos"/>
              </a:defRPr>
            </a:pPr>
            <a:r>
              <a:t>Portfolio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4261104"/>
            <a:ext cx="4178808" cy="6126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AEBCD3"/>
                </a:solidFill>
                <a:latin typeface="Aptos"/>
              </a:defRPr>
            </a:pPr>
            <a:r>
              <a:t>Demonstrates full-stack routing, REST APIs, JWT flow, filtering, and document persistence.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23560"/>
            <a:ext cx="102412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F3F7FF"/>
                </a:solidFill>
                <a:latin typeface="Aptos"/>
              </a:defRPr>
            </a:pPr>
            <a:r>
              <a:t>Core stack: HTML • CSS • JavaScript • Node.js • Java 21 • Spring Boot 3.1.0 • MongoDB • JJWT • ngrok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510528"/>
            <a:ext cx="56692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AEBCD3"/>
                </a:solidFill>
                <a:latin typeface="Aptos"/>
              </a:defRPr>
            </a:pPr>
            <a:r>
              <a:t>GIGNITY  •  SYSTEM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1" i="0">
                <a:solidFill>
                  <a:srgbClr val="34D3D5"/>
                </a:solidFill>
                <a:latin typeface="Apto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